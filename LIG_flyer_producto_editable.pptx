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256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39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Elipse 147">
            <a:extLst>
              <a:ext uri="{FF2B5EF4-FFF2-40B4-BE49-F238E27FC236}">
                <a16:creationId xmlns:a16="http://schemas.microsoft.com/office/drawing/2014/main" id="{9B59F817-0E9C-546F-20E0-48A071A4FE80}"/>
              </a:ext>
            </a:extLst>
          </p:cNvPr>
          <p:cNvSpPr/>
          <p:nvPr/>
        </p:nvSpPr>
        <p:spPr>
          <a:xfrm>
            <a:off x="3511296" y="3160188"/>
            <a:ext cx="512652" cy="512652"/>
          </a:xfrm>
          <a:prstGeom prst="ellipse">
            <a:avLst/>
          </a:prstGeom>
          <a:solidFill>
            <a:schemeClr val="bg1"/>
          </a:solidFill>
          <a:ln w="9525">
            <a:solidFill>
              <a:srgbClr val="D4A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5F5B79F6-97B9-312E-3506-D339EB180CB2}"/>
              </a:ext>
            </a:extLst>
          </p:cNvPr>
          <p:cNvSpPr/>
          <p:nvPr/>
        </p:nvSpPr>
        <p:spPr>
          <a:xfrm>
            <a:off x="1949196" y="3160188"/>
            <a:ext cx="512652" cy="512652"/>
          </a:xfrm>
          <a:prstGeom prst="ellipse">
            <a:avLst/>
          </a:prstGeom>
          <a:solidFill>
            <a:schemeClr val="bg1"/>
          </a:solidFill>
          <a:ln w="9525">
            <a:solidFill>
              <a:srgbClr val="D4A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620F5FC3-E8AC-557F-BF5E-67D1678299C2}"/>
              </a:ext>
            </a:extLst>
          </p:cNvPr>
          <p:cNvSpPr/>
          <p:nvPr/>
        </p:nvSpPr>
        <p:spPr>
          <a:xfrm>
            <a:off x="516636" y="3167808"/>
            <a:ext cx="512652" cy="512652"/>
          </a:xfrm>
          <a:prstGeom prst="ellipse">
            <a:avLst/>
          </a:prstGeom>
          <a:solidFill>
            <a:schemeClr val="bg1"/>
          </a:solidFill>
          <a:ln w="9525">
            <a:solidFill>
              <a:srgbClr val="D4A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7" name="Imagen 126">
            <a:extLst>
              <a:ext uri="{FF2B5EF4-FFF2-40B4-BE49-F238E27FC236}">
                <a16:creationId xmlns:a16="http://schemas.microsoft.com/office/drawing/2014/main" id="{85E7ED70-5E12-6E6E-F348-A88927A2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32"/>
          <a:stretch>
            <a:fillRect/>
          </a:stretch>
        </p:blipFill>
        <p:spPr>
          <a:xfrm>
            <a:off x="5013540" y="2548128"/>
            <a:ext cx="2146212" cy="2270760"/>
          </a:xfrm>
          <a:prstGeom prst="round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13588" y="62788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25400" dist="508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13588" y="794309"/>
            <a:ext cx="59436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8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LIG</a:t>
            </a:r>
            <a:endParaRPr lang="en-US" sz="1138" dirty="0"/>
          </a:p>
        </p:txBody>
      </p:sp>
      <p:sp>
        <p:nvSpPr>
          <p:cNvPr id="4" name="Text 2"/>
          <p:cNvSpPr/>
          <p:nvPr/>
        </p:nvSpPr>
        <p:spPr>
          <a:xfrm>
            <a:off x="1591056" y="627888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LIG para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 err="1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Clubes</a:t>
            </a:r>
            <a:r>
              <a:rPr lang="en-US" sz="210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 de pádel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91056" y="1313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6868"/>
                </a:solidFill>
                <a:ea typeface="Aptos" pitchFamily="34" charset="-122"/>
                <a:cs typeface="Aptos" pitchFamily="34" charset="-120"/>
              </a:rPr>
              <a:t>Convierte tu club en </a:t>
            </a:r>
            <a:r>
              <a:rPr lang="en-US" sz="950" dirty="0" err="1">
                <a:solidFill>
                  <a:srgbClr val="686868"/>
                </a:solidFill>
                <a:ea typeface="Aptos" pitchFamily="34" charset="-122"/>
                <a:cs typeface="Aptos" pitchFamily="34" charset="-120"/>
              </a:rPr>
              <a:t>una</a:t>
            </a:r>
            <a:r>
              <a:rPr lang="en-US" sz="950" dirty="0">
                <a:solidFill>
                  <a:srgbClr val="686868"/>
                </a:solidFill>
                <a:ea typeface="Aptos" pitchFamily="34" charset="-122"/>
                <a:cs typeface="Aptos" pitchFamily="34" charset="-120"/>
              </a:rPr>
              <a:t> comunidad.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91056" y="1597152"/>
            <a:ext cx="530352" cy="0"/>
          </a:xfrm>
          <a:prstGeom prst="line">
            <a:avLst/>
          </a:prstGeom>
          <a:noFill/>
          <a:ln w="17780">
            <a:solidFill>
              <a:srgbClr val="C8A6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1981200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LIG crea ligas individuales de pádel con fixture armado, partners rotativos, ranking vivo, H2H y estadísticas para que los jugadores vuelvan semana a semana.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384048" y="3755136"/>
            <a:ext cx="1299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Retención </a:t>
            </a:r>
            <a:r>
              <a:rPr lang="en-US" sz="9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real</a:t>
            </a:r>
            <a:endParaRPr lang="en-US" sz="9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39745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6868"/>
                </a:solidFill>
                <a:ea typeface="Aptos" pitchFamily="34" charset="-122"/>
                <a:cs typeface="Aptos" pitchFamily="34" charset="-120"/>
              </a:rPr>
              <a:t>Los jugadores vuelven cuando hay competencia y movimiento.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17548" y="3755136"/>
            <a:ext cx="1299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Comunidad</a:t>
            </a:r>
            <a:r>
              <a:rPr lang="en-US" sz="90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 activa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17548" y="39745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6868"/>
                </a:solidFill>
                <a:ea typeface="Aptos" pitchFamily="34" charset="-122"/>
                <a:cs typeface="Aptos" pitchFamily="34" charset="-120"/>
              </a:rPr>
              <a:t>Conexión, nuevos matches y una experiencia social única.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2968" y="3755136"/>
            <a:ext cx="1299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Más canchas ocupadas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72968" y="39745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86868"/>
                </a:solidFill>
                <a:ea typeface="Aptos" pitchFamily="34" charset="-122"/>
                <a:cs typeface="Aptos" pitchFamily="34" charset="-120"/>
              </a:rPr>
              <a:t>Más partidos, más horarios utilizados, más ingresos para el club.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66716" y="743651"/>
            <a:ext cx="2189988" cy="4075237"/>
          </a:xfrm>
          <a:prstGeom prst="roundRect">
            <a:avLst>
              <a:gd name="adj" fmla="val 10526"/>
            </a:avLst>
          </a:prstGeom>
          <a:solidFill>
            <a:srgbClr val="FFFFFF">
              <a:alpha val="0"/>
            </a:srgbClr>
          </a:solidFill>
          <a:ln w="13970">
            <a:solidFill>
              <a:srgbClr val="E4E3D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49" name="Text 47"/>
          <p:cNvSpPr/>
          <p:nvPr/>
        </p:nvSpPr>
        <p:spPr>
          <a:xfrm>
            <a:off x="420624" y="50673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¿Qué incluye?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384048" y="5440680"/>
            <a:ext cx="6766560" cy="116433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512064" y="58963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Inscripción de</a:t>
            </a:r>
            <a:endParaRPr lang="en-US" sz="800" dirty="0">
              <a:latin typeface="+mj-lt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jugadores</a:t>
            </a:r>
            <a:endParaRPr lang="en-US" sz="800" dirty="0">
              <a:latin typeface="+mj-lt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30352" y="629564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simple y rápido.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636776" y="58963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Divisiones por</a:t>
            </a:r>
            <a:endParaRPr lang="en-US" sz="800" dirty="0">
              <a:latin typeface="+mj-lt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nivel</a:t>
            </a:r>
            <a:endParaRPr lang="en-US" sz="800" dirty="0">
              <a:latin typeface="+mj-lt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655064" y="629564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Competencias parejas y justas.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508760" y="5532120"/>
            <a:ext cx="0" cy="914400"/>
          </a:xfrm>
          <a:prstGeom prst="line">
            <a:avLst/>
          </a:prstGeom>
          <a:noFill/>
          <a:ln w="889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2761488" y="58963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Tabla en vivo</a:t>
            </a:r>
            <a:endParaRPr lang="en-US" sz="800" dirty="0">
              <a:latin typeface="+mj-lt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779776" y="629564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actualizado en tiempo real.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633472" y="5532120"/>
            <a:ext cx="0" cy="914400"/>
          </a:xfrm>
          <a:prstGeom prst="line">
            <a:avLst/>
          </a:prstGeom>
          <a:noFill/>
          <a:ln w="889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3886200" y="58963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Fixture y</a:t>
            </a:r>
            <a:endParaRPr lang="en-US" sz="800" dirty="0">
              <a:latin typeface="+mj-lt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resultados</a:t>
            </a:r>
            <a:endParaRPr lang="en-US" sz="800" dirty="0">
              <a:latin typeface="+mj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904488" y="629564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Calendario completo y claro.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58184" y="5532120"/>
            <a:ext cx="0" cy="914400"/>
          </a:xfrm>
          <a:prstGeom prst="line">
            <a:avLst/>
          </a:prstGeom>
          <a:noFill/>
          <a:ln w="889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5010912" y="58963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H2H entre</a:t>
            </a:r>
            <a:endParaRPr lang="en-US" sz="800" dirty="0">
              <a:latin typeface="+mj-lt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jugadores</a:t>
            </a:r>
            <a:endParaRPr lang="en-US" sz="800" dirty="0">
              <a:latin typeface="+mj-lt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029200" y="629564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directo match a match.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882896" y="5532120"/>
            <a:ext cx="0" cy="914400"/>
          </a:xfrm>
          <a:prstGeom prst="line">
            <a:avLst/>
          </a:prstGeom>
          <a:noFill/>
          <a:ln w="889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/>
          <p:nvPr/>
        </p:nvSpPr>
        <p:spPr>
          <a:xfrm>
            <a:off x="6135624" y="58963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LIG Stats y</a:t>
            </a:r>
            <a:endParaRPr lang="en-US" sz="800" dirty="0">
              <a:latin typeface="+mj-lt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LIG Rank</a:t>
            </a:r>
            <a:endParaRPr lang="en-US" sz="800" dirty="0">
              <a:latin typeface="+mj-lt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153912" y="629564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Estadísticas que motivan y retienen.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007608" y="5532120"/>
            <a:ext cx="0" cy="914400"/>
          </a:xfrm>
          <a:prstGeom prst="line">
            <a:avLst/>
          </a:prstGeom>
          <a:noFill/>
          <a:ln w="889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Text 72"/>
          <p:cNvSpPr/>
          <p:nvPr/>
        </p:nvSpPr>
        <p:spPr>
          <a:xfrm>
            <a:off x="420624" y="68381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recomendado</a:t>
            </a:r>
            <a:endParaRPr lang="en-US" sz="1550" dirty="0"/>
          </a:p>
        </p:txBody>
      </p:sp>
      <p:sp>
        <p:nvSpPr>
          <p:cNvPr id="75" name="Shape 73"/>
          <p:cNvSpPr/>
          <p:nvPr/>
        </p:nvSpPr>
        <p:spPr>
          <a:xfrm>
            <a:off x="422148" y="7280148"/>
            <a:ext cx="1243584" cy="6598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7" name="Text 75"/>
          <p:cNvSpPr/>
          <p:nvPr/>
        </p:nvSpPr>
        <p:spPr>
          <a:xfrm>
            <a:off x="702564" y="7362444"/>
            <a:ext cx="740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temporada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02564" y="762762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Duración sugerida para el piloto.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795272" y="7280148"/>
            <a:ext cx="1243584" cy="6598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1" name="Text 79"/>
          <p:cNvSpPr/>
          <p:nvPr/>
        </p:nvSpPr>
        <p:spPr>
          <a:xfrm>
            <a:off x="2052828" y="7362444"/>
            <a:ext cx="740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a 32 jugadores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052828" y="762762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Tamaño ideal para lograr dinámica.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168396" y="7280148"/>
            <a:ext cx="1243584" cy="6598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5" name="Text 83"/>
          <p:cNvSpPr/>
          <p:nvPr/>
        </p:nvSpPr>
        <p:spPr>
          <a:xfrm>
            <a:off x="3403092" y="7362444"/>
            <a:ext cx="740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fechas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372612" y="7627620"/>
            <a:ext cx="79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Partidos semanales programados.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541520" y="7280148"/>
            <a:ext cx="1243584" cy="6598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9" name="Text 87"/>
          <p:cNvSpPr/>
          <p:nvPr/>
        </p:nvSpPr>
        <p:spPr>
          <a:xfrm>
            <a:off x="4753355" y="7362444"/>
            <a:ext cx="9075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web para jugadores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692396" y="7627620"/>
            <a:ext cx="982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simple desde cualquier dispositivo.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914644" y="7280148"/>
            <a:ext cx="1243584" cy="6598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3" name="Text 91"/>
          <p:cNvSpPr/>
          <p:nvPr/>
        </p:nvSpPr>
        <p:spPr>
          <a:xfrm>
            <a:off x="6187440" y="7362444"/>
            <a:ext cx="740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 operativo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088380" y="76276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Acompañamiento durante todo el piloto.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20624" y="82067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 para el club</a:t>
            </a:r>
            <a:endParaRPr lang="en-US" sz="1550" dirty="0"/>
          </a:p>
        </p:txBody>
      </p:sp>
      <p:sp>
        <p:nvSpPr>
          <p:cNvPr id="96" name="Shape 94"/>
          <p:cNvSpPr/>
          <p:nvPr/>
        </p:nvSpPr>
        <p:spPr>
          <a:xfrm>
            <a:off x="384048" y="8663940"/>
            <a:ext cx="6766560" cy="64243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4AC1A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9" name="Text 97"/>
          <p:cNvSpPr/>
          <p:nvPr/>
        </p:nvSpPr>
        <p:spPr>
          <a:xfrm>
            <a:off x="914400" y="87370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Ordena y profesionaliza la liga</a:t>
            </a:r>
            <a:endParaRPr lang="en-US" sz="900" dirty="0">
              <a:latin typeface="+mj-lt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914400" y="896569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Estructura, reglas y procesos claros y consistentes.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3154680" y="87370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Aumenta frecuencia de juego</a:t>
            </a:r>
            <a:endParaRPr lang="en-US" sz="900" dirty="0">
              <a:latin typeface="+mj-lt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3154680" y="896569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partidos por jugador, más movimiento en el club.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551176" y="8755380"/>
            <a:ext cx="0" cy="457200"/>
          </a:xfrm>
          <a:prstGeom prst="line">
            <a:avLst/>
          </a:prstGeom>
          <a:noFill/>
          <a:ln w="1016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Text 106"/>
          <p:cNvSpPr/>
          <p:nvPr/>
        </p:nvSpPr>
        <p:spPr>
          <a:xfrm>
            <a:off x="5394960" y="87370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Fideliza</a:t>
            </a:r>
            <a:r>
              <a:rPr lang="en-US" sz="900" b="1" dirty="0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 a </a:t>
            </a:r>
            <a:r>
              <a:rPr lang="en-US" sz="900" b="1" dirty="0" err="1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tu</a:t>
            </a:r>
            <a:r>
              <a:rPr lang="en-US" sz="900" b="1">
                <a:solidFill>
                  <a:srgbClr val="111111"/>
                </a:solidFill>
                <a:latin typeface="+mj-lt"/>
                <a:ea typeface="Aptos" pitchFamily="34" charset="-122"/>
                <a:cs typeface="Aptos" pitchFamily="34" charset="-120"/>
              </a:rPr>
              <a:t> comunidad</a:t>
            </a:r>
            <a:endParaRPr lang="en-US" sz="900" dirty="0">
              <a:latin typeface="+mj-lt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394960" y="896569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</a:t>
            </a:r>
            <a:r>
              <a:rPr lang="en-US" sz="800" dirty="0" err="1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</a:t>
            </a: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social </a:t>
            </a:r>
            <a:r>
              <a:rPr lang="en-US" sz="800" dirty="0" err="1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competitiva</a:t>
            </a: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que genera pertenencia.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791456" y="8755380"/>
            <a:ext cx="0" cy="457200"/>
          </a:xfrm>
          <a:prstGeom prst="line">
            <a:avLst/>
          </a:prstGeom>
          <a:noFill/>
          <a:ln w="10160">
            <a:solidFill>
              <a:srgbClr val="E4E3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Shape 109"/>
          <p:cNvSpPr/>
          <p:nvPr/>
        </p:nvSpPr>
        <p:spPr>
          <a:xfrm>
            <a:off x="384048" y="9608820"/>
            <a:ext cx="6766560" cy="845820"/>
          </a:xfrm>
          <a:prstGeom prst="roundRect">
            <a:avLst>
              <a:gd name="adj" fmla="val 13333"/>
            </a:avLst>
          </a:prstGeom>
          <a:solidFill>
            <a:srgbClr val="D4AC1A">
              <a:alpha val="75000"/>
            </a:srgbClr>
          </a:solidFill>
          <a:ln w="12700">
            <a:solidFill>
              <a:srgbClr val="C8A600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4" name="Text 112"/>
          <p:cNvSpPr/>
          <p:nvPr/>
        </p:nvSpPr>
        <p:spPr>
          <a:xfrm>
            <a:off x="1470660" y="98450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</a:t>
            </a:r>
            <a:r>
              <a:rPr lang="en-US" sz="1380" b="1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</a:t>
            </a:r>
            <a:r>
              <a:rPr lang="en-US" sz="13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temporada LIG en tu club.</a:t>
            </a:r>
            <a:endParaRPr lang="en-US" sz="1380" dirty="0"/>
          </a:p>
        </p:txBody>
      </p:sp>
      <p:sp>
        <p:nvSpPr>
          <p:cNvPr id="115" name="Text 113"/>
          <p:cNvSpPr/>
          <p:nvPr/>
        </p:nvSpPr>
        <p:spPr>
          <a:xfrm>
            <a:off x="1470660" y="10116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comercial disponible</a:t>
            </a:r>
            <a:endParaRPr lang="en-US" sz="880" dirty="0"/>
          </a:p>
        </p:txBody>
      </p:sp>
      <p:sp>
        <p:nvSpPr>
          <p:cNvPr id="118" name="Shape 116"/>
          <p:cNvSpPr/>
          <p:nvPr/>
        </p:nvSpPr>
        <p:spPr>
          <a:xfrm>
            <a:off x="5013960" y="9720072"/>
            <a:ext cx="0" cy="577596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9" name="Text 117"/>
          <p:cNvSpPr/>
          <p:nvPr/>
        </p:nvSpPr>
        <p:spPr>
          <a:xfrm>
            <a:off x="5239512" y="99075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WSP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5712714" y="9867900"/>
            <a:ext cx="131749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Escríbenos y te contamos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cómo empezar.</a:t>
            </a:r>
            <a:endParaRPr lang="en-US" sz="900" dirty="0"/>
          </a:p>
        </p:txBody>
      </p:sp>
      <p:pic>
        <p:nvPicPr>
          <p:cNvPr id="130" name="Imagen 129">
            <a:extLst>
              <a:ext uri="{FF2B5EF4-FFF2-40B4-BE49-F238E27FC236}">
                <a16:creationId xmlns:a16="http://schemas.microsoft.com/office/drawing/2014/main" id="{7CE448D2-368B-40EF-C058-EDD043CE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518"/>
          <a:stretch>
            <a:fillRect/>
          </a:stretch>
        </p:blipFill>
        <p:spPr>
          <a:xfrm>
            <a:off x="5002320" y="792040"/>
            <a:ext cx="2146212" cy="3275137"/>
          </a:xfrm>
          <a:prstGeom prst="roundRect">
            <a:avLst/>
          </a:prstGeom>
        </p:spPr>
      </p:pic>
      <p:pic>
        <p:nvPicPr>
          <p:cNvPr id="132" name="Imagen 131">
            <a:extLst>
              <a:ext uri="{FF2B5EF4-FFF2-40B4-BE49-F238E27FC236}">
                <a16:creationId xmlns:a16="http://schemas.microsoft.com/office/drawing/2014/main" id="{103D91C0-0522-4228-1A4D-89A0425FE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30" y="9747885"/>
            <a:ext cx="601025" cy="6010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A02246B7-17A8-5766-024B-FD82C4FB5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39" y="599674"/>
            <a:ext cx="956330" cy="9563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C857BDF6-8A68-C8EF-C1FE-28CAF0D11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208" y="3254122"/>
            <a:ext cx="335470" cy="335470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4C9315EA-1559-952E-98E5-AC7508F24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82" y="3226950"/>
            <a:ext cx="380278" cy="380278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BE36567-AB29-3D3F-A0FF-D6543C15C0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4545" y="3239835"/>
            <a:ext cx="335470" cy="335470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985FB02A-9F5B-1BCA-DD7E-9C1BC5A6DE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484" y="5579364"/>
            <a:ext cx="292608" cy="292608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C2A57140-6878-3CAE-72B1-8D6990CA07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9062" y="5563426"/>
            <a:ext cx="308546" cy="308546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3AF54395-F652-EC65-064E-1277DE5410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756" y="5573268"/>
            <a:ext cx="323088" cy="323088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18F3ABDA-020B-2152-3685-C33A5C74AC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9640" y="5541732"/>
            <a:ext cx="386160" cy="386160"/>
          </a:xfrm>
          <a:prstGeom prst="rect">
            <a:avLst/>
          </a:prstGeom>
        </p:spPr>
      </p:pic>
      <p:pic>
        <p:nvPicPr>
          <p:cNvPr id="160" name="Imagen 159">
            <a:extLst>
              <a:ext uri="{FF2B5EF4-FFF2-40B4-BE49-F238E27FC236}">
                <a16:creationId xmlns:a16="http://schemas.microsoft.com/office/drawing/2014/main" id="{3D9F1E54-382F-7F07-918F-C15F3162DD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1408" y="5542113"/>
            <a:ext cx="385779" cy="385779"/>
          </a:xfrm>
          <a:prstGeom prst="rect">
            <a:avLst/>
          </a:prstGeom>
        </p:spPr>
      </p:pic>
      <p:pic>
        <p:nvPicPr>
          <p:cNvPr id="162" name="Imagen 161">
            <a:extLst>
              <a:ext uri="{FF2B5EF4-FFF2-40B4-BE49-F238E27FC236}">
                <a16:creationId xmlns:a16="http://schemas.microsoft.com/office/drawing/2014/main" id="{A5A51439-26C5-BAEC-09A9-67AAE4A2F4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3368" y="5562894"/>
            <a:ext cx="364998" cy="364998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8A4C8818-553F-9472-88AD-AC990BF5F2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07929" y="9830750"/>
            <a:ext cx="409258" cy="409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3832</TotalTime>
  <Words>246</Words>
  <Application>Microsoft Office PowerPoint</Application>
  <PresentationFormat>Personalizado</PresentationFormat>
  <Paragraphs>53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Presentación de PowerPoint</vt:lpstr>
    </vt:vector>
  </TitlesOfParts>
  <Company>NonData and 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 para clubes de pádel - flyer editable</dc:title>
  <dc:subject>Flyer editable LIG para clubes de pádel</dc:subject>
  <dc:creator>OpenAI</dc:creator>
  <cp:lastModifiedBy>Mauricio Zajaropulos</cp:lastModifiedBy>
  <cp:revision>2</cp:revision>
  <dcterms:created xsi:type="dcterms:W3CDTF">2026-05-20T18:13:51Z</dcterms:created>
  <dcterms:modified xsi:type="dcterms:W3CDTF">2026-05-26T20:49:40Z</dcterms:modified>
</cp:coreProperties>
</file>