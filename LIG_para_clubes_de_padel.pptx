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06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86A0EA-5E5D-47B0-AD0F-716BAE7840A0}" type="datetimeFigureOut">
              <a:rPr lang="es-CL" smtClean="0"/>
              <a:t>24-05-2026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E8CFF-AA76-466A-A253-51AB693327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2393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5E8CFF-AA76-466A-A253-51AB693327F9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04229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46D71530-5CF0-AD5F-91B8-46DA13FEE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" y="492760"/>
            <a:ext cx="566928" cy="5669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1491488" y="658368"/>
            <a:ext cx="310896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>
                <a:solidFill>
                  <a:srgbClr val="111111"/>
                </a:solidFill>
                <a:latin typeface="Arial"/>
              </a:rPr>
              <a:t>LIG para clubes de pádel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694944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500" b="1" dirty="0" err="1">
                <a:solidFill>
                  <a:srgbClr val="111111"/>
                </a:solidFill>
                <a:latin typeface="Arial"/>
              </a:rPr>
              <a:t>Convierte</a:t>
            </a:r>
            <a:r>
              <a:rPr sz="4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4500" b="1" dirty="0" err="1">
                <a:solidFill>
                  <a:srgbClr val="111111"/>
                </a:solidFill>
                <a:latin typeface="Arial"/>
              </a:rPr>
              <a:t>tu</a:t>
            </a:r>
            <a:r>
              <a:rPr sz="4500" b="1" dirty="0">
                <a:solidFill>
                  <a:srgbClr val="111111"/>
                </a:solidFill>
                <a:latin typeface="Arial"/>
              </a:rPr>
              <a:t> club </a:t>
            </a:r>
            <a:r>
              <a:rPr sz="4500" b="1" dirty="0" err="1">
                <a:solidFill>
                  <a:srgbClr val="111111"/>
                </a:solidFill>
                <a:latin typeface="Arial"/>
              </a:rPr>
              <a:t>en</a:t>
            </a:r>
            <a:r>
              <a:rPr sz="4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4500" b="1" dirty="0" err="1">
                <a:solidFill>
                  <a:srgbClr val="111111"/>
                </a:solidFill>
                <a:latin typeface="Arial"/>
              </a:rPr>
              <a:t>una</a:t>
            </a:r>
            <a:r>
              <a:rPr sz="4500" b="1" dirty="0">
                <a:solidFill>
                  <a:srgbClr val="111111"/>
                </a:solidFill>
                <a:latin typeface="Arial"/>
              </a:rPr>
              <a:t>
comunidad.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93008"/>
            <a:ext cx="5852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666666"/>
                </a:solidFill>
                <a:latin typeface="Arial"/>
              </a:rPr>
              <a:t>LIG </a:t>
            </a:r>
            <a:r>
              <a:rPr sz="1600" b="0" dirty="0" err="1">
                <a:solidFill>
                  <a:srgbClr val="666666"/>
                </a:solidFill>
                <a:latin typeface="Arial"/>
              </a:rPr>
              <a:t>crea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666666"/>
                </a:solidFill>
                <a:latin typeface="Arial"/>
              </a:rPr>
              <a:t>ligas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666666"/>
                </a:solidFill>
                <a:latin typeface="Arial"/>
              </a:rPr>
              <a:t>individuales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 de </a:t>
            </a:r>
            <a:r>
              <a:rPr sz="1600" b="0" dirty="0" err="1">
                <a:solidFill>
                  <a:srgbClr val="666666"/>
                </a:solidFill>
                <a:latin typeface="Arial"/>
              </a:rPr>
              <a:t>pádel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 con fixture </a:t>
            </a:r>
            <a:r>
              <a:rPr sz="1600" b="0" dirty="0" err="1">
                <a:solidFill>
                  <a:srgbClr val="666666"/>
                </a:solidFill>
                <a:latin typeface="Arial"/>
              </a:rPr>
              <a:t>armado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, partners </a:t>
            </a:r>
            <a:r>
              <a:rPr sz="1600" b="0" dirty="0" err="1">
                <a:solidFill>
                  <a:srgbClr val="666666"/>
                </a:solidFill>
                <a:latin typeface="Arial"/>
              </a:rPr>
              <a:t>rotativos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, ranking vivo, H2H y </a:t>
            </a:r>
            <a:r>
              <a:rPr sz="1600" b="0" dirty="0" err="1">
                <a:solidFill>
                  <a:srgbClr val="666666"/>
                </a:solidFill>
                <a:latin typeface="Arial"/>
              </a:rPr>
              <a:t>estadísticas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 para </a:t>
            </a:r>
            <a:r>
              <a:rPr sz="1600" b="0" dirty="0" err="1">
                <a:solidFill>
                  <a:srgbClr val="666666"/>
                </a:solidFill>
                <a:latin typeface="Arial"/>
              </a:rPr>
              <a:t>que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666666"/>
                </a:solidFill>
                <a:latin typeface="Arial"/>
              </a:rPr>
              <a:t>los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666666"/>
                </a:solidFill>
                <a:latin typeface="Arial"/>
              </a:rPr>
              <a:t>jugadores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666666"/>
                </a:solidFill>
                <a:latin typeface="Arial"/>
              </a:rPr>
              <a:t>vuelvan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666666"/>
                </a:solidFill>
                <a:latin typeface="Arial"/>
              </a:rPr>
              <a:t>semana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 a </a:t>
            </a:r>
            <a:r>
              <a:rPr sz="1600" b="0" dirty="0" err="1">
                <a:solidFill>
                  <a:srgbClr val="666666"/>
                </a:solidFill>
                <a:latin typeface="Arial"/>
              </a:rPr>
              <a:t>semana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81880"/>
            <a:ext cx="1980000" cy="36000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Más recurrencia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75280" y="4881880"/>
            <a:ext cx="1980000" cy="360000"/>
          </a:xfrm>
          <a:prstGeom prst="roundRect">
            <a:avLst/>
          </a:prstGeom>
          <a:solidFill>
            <a:srgbClr val="C8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Más comunidad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10480" y="4881880"/>
            <a:ext cx="1980000" cy="360000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Más ocupación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143000"/>
            <a:ext cx="347472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36992" y="141732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Arial"/>
              </a:rPr>
              <a:t>Temporada LIG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1362456"/>
            <a:ext cx="640080" cy="25603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874519"/>
            <a:ext cx="288036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28431" y="1956815"/>
            <a:ext cx="246888" cy="246888"/>
          </a:xfrm>
          <a:prstGeom prst="ellipse">
            <a:avLst/>
          </a:prstGeom>
          <a:solidFill>
            <a:srgbClr val="C8A600"/>
          </a:solidFill>
          <a:ln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01583" y="1997963"/>
            <a:ext cx="91440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1984248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Arial"/>
              </a:rPr>
              <a:t>Martínez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1984248"/>
            <a:ext cx="5943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111111"/>
                </a:solidFill>
                <a:latin typeface="Arial"/>
              </a:rPr>
              <a:t>14.200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2441448"/>
            <a:ext cx="288036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028431" y="2523744"/>
            <a:ext cx="246888" cy="246888"/>
          </a:xfrm>
          <a:prstGeom prst="ellipse">
            <a:avLst/>
          </a:prstGeom>
          <a:solidFill>
            <a:srgbClr val="FFFFFF"/>
          </a:solidFill>
          <a:ln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01583" y="2564891"/>
            <a:ext cx="91440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551176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Arial"/>
              </a:rPr>
              <a:t>Ballack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551176"/>
            <a:ext cx="5943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111111"/>
                </a:solidFill>
                <a:latin typeface="Arial"/>
              </a:rPr>
              <a:t>8.800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3008376"/>
            <a:ext cx="288036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028431" y="3090672"/>
            <a:ext cx="246888" cy="246888"/>
          </a:xfrm>
          <a:prstGeom prst="ellipse">
            <a:avLst/>
          </a:prstGeom>
          <a:solidFill>
            <a:srgbClr val="FFFFFF"/>
          </a:solidFill>
          <a:ln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01583" y="3131820"/>
            <a:ext cx="91440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3118104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Arial"/>
              </a:rPr>
              <a:t>Yolito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118104"/>
            <a:ext cx="5943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111111"/>
                </a:solidFill>
                <a:latin typeface="Arial"/>
              </a:rPr>
              <a:t>6.460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3575303"/>
            <a:ext cx="288036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028431" y="3657599"/>
            <a:ext cx="246888" cy="246888"/>
          </a:xfrm>
          <a:prstGeom prst="ellipse">
            <a:avLst/>
          </a:prstGeom>
          <a:solidFill>
            <a:srgbClr val="FFFFFF"/>
          </a:solidFill>
          <a:ln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01583" y="3698748"/>
            <a:ext cx="91440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685031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111111"/>
                </a:solidFill>
                <a:latin typeface="Arial"/>
              </a:rPr>
              <a:t>Rinaldi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3685031"/>
            <a:ext cx="59436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111111"/>
                </a:solidFill>
                <a:latin typeface="Arial"/>
              </a:rPr>
              <a:t>5.920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09560" y="4407408"/>
            <a:ext cx="288036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19872" y="4599432"/>
            <a:ext cx="411480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>
                <a:solidFill>
                  <a:srgbClr val="666666"/>
                </a:solidFill>
                <a:latin typeface="Arial"/>
              </a:rPr>
              <a:t>H2H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736592"/>
            <a:ext cx="41148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Arial"/>
              </a:rPr>
              <a:t>7-4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599432"/>
            <a:ext cx="457200" cy="91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>
                <a:solidFill>
                  <a:srgbClr val="666666"/>
                </a:solidFill>
                <a:latin typeface="Arial"/>
              </a:rPr>
              <a:t>Racha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6608" y="4736592"/>
            <a:ext cx="41148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Arial"/>
              </a:rPr>
              <a:t>W3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4652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666666"/>
                </a:solidFill>
                <a:latin typeface="Arial"/>
              </a:rPr>
              <a:t>LIG by NonData&amp;Co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E4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D030E85A-2DEA-CEE4-9D4E-90FA48D97921}"/>
              </a:ext>
            </a:extLst>
          </p:cNvPr>
          <p:cNvSpPr/>
          <p:nvPr/>
        </p:nvSpPr>
        <p:spPr>
          <a:xfrm>
            <a:off x="643889" y="4582158"/>
            <a:ext cx="5077206" cy="1105153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56C4E91B-57EC-BBE7-65AB-2CEC6610B035}"/>
              </a:ext>
            </a:extLst>
          </p:cNvPr>
          <p:cNvSpPr/>
          <p:nvPr/>
        </p:nvSpPr>
        <p:spPr>
          <a:xfrm>
            <a:off x="6324347" y="4582158"/>
            <a:ext cx="5077206" cy="1105153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2DA5F4D2-421B-F336-304B-FA2055E32EF2}"/>
              </a:ext>
            </a:extLst>
          </p:cNvPr>
          <p:cNvSpPr/>
          <p:nvPr/>
        </p:nvSpPr>
        <p:spPr>
          <a:xfrm>
            <a:off x="6273547" y="3071623"/>
            <a:ext cx="5077206" cy="1105153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5D24C8F1-6953-261F-6461-AFF163A61AE5}"/>
              </a:ext>
            </a:extLst>
          </p:cNvPr>
          <p:cNvSpPr/>
          <p:nvPr/>
        </p:nvSpPr>
        <p:spPr>
          <a:xfrm>
            <a:off x="643889" y="3071623"/>
            <a:ext cx="5077206" cy="1105153"/>
          </a:xfrm>
          <a:prstGeom prst="roundRect">
            <a:avLst/>
          </a:prstGeom>
          <a:solidFill>
            <a:srgbClr val="C8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TextBox 2"/>
          <p:cNvSpPr txBox="1"/>
          <p:nvPr/>
        </p:nvSpPr>
        <p:spPr>
          <a:xfrm>
            <a:off x="680720" y="136459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 dirty="0">
                <a:solidFill>
                  <a:srgbClr val="111111"/>
                </a:solidFill>
                <a:latin typeface="Arial"/>
              </a:rPr>
              <a:t>Muchos </a:t>
            </a:r>
            <a:r>
              <a:rPr sz="2500" b="1" dirty="0" err="1">
                <a:solidFill>
                  <a:srgbClr val="111111"/>
                </a:solidFill>
                <a:latin typeface="Arial"/>
              </a:rPr>
              <a:t>jugadores</a:t>
            </a:r>
            <a:r>
              <a:rPr sz="2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111111"/>
                </a:solidFill>
                <a:latin typeface="Arial"/>
              </a:rPr>
              <a:t>quieren</a:t>
            </a:r>
            <a:r>
              <a:rPr sz="2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111111"/>
                </a:solidFill>
                <a:latin typeface="Arial"/>
              </a:rPr>
              <a:t>jugar</a:t>
            </a:r>
            <a:r>
              <a:rPr sz="2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111111"/>
                </a:solidFill>
                <a:latin typeface="Arial"/>
              </a:rPr>
              <a:t>más</a:t>
            </a:r>
            <a:r>
              <a:rPr sz="2500" b="1" dirty="0">
                <a:solidFill>
                  <a:srgbClr val="111111"/>
                </a:solidFill>
                <a:latin typeface="Arial"/>
              </a:rPr>
              <a:t>, </a:t>
            </a:r>
            <a:r>
              <a:rPr sz="2500" b="1" dirty="0" err="1">
                <a:solidFill>
                  <a:srgbClr val="111111"/>
                </a:solidFill>
                <a:latin typeface="Arial"/>
              </a:rPr>
              <a:t>pero</a:t>
            </a:r>
            <a:r>
              <a:rPr sz="2500" b="1" dirty="0">
                <a:solidFill>
                  <a:srgbClr val="111111"/>
                </a:solidFill>
                <a:latin typeface="Arial"/>
              </a:rPr>
              <a:t> no </a:t>
            </a:r>
            <a:r>
              <a:rPr sz="2500" b="1" dirty="0" err="1">
                <a:solidFill>
                  <a:srgbClr val="111111"/>
                </a:solidFill>
                <a:latin typeface="Arial"/>
              </a:rPr>
              <a:t>siempre</a:t>
            </a:r>
            <a:r>
              <a:rPr sz="2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111111"/>
                </a:solidFill>
                <a:latin typeface="Arial"/>
              </a:rPr>
              <a:t>tienen</a:t>
            </a:r>
            <a:r>
              <a:rPr sz="2500" b="1" dirty="0">
                <a:solidFill>
                  <a:srgbClr val="111111"/>
                </a:solidFill>
                <a:latin typeface="Arial"/>
              </a:rPr>
              <a:t> con </a:t>
            </a:r>
            <a:r>
              <a:rPr sz="2500" b="1" dirty="0" err="1">
                <a:solidFill>
                  <a:srgbClr val="111111"/>
                </a:solidFill>
                <a:latin typeface="Arial"/>
              </a:rPr>
              <a:t>quién</a:t>
            </a:r>
            <a:r>
              <a:rPr sz="2500" b="1" dirty="0">
                <a:solidFill>
                  <a:srgbClr val="111111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720" y="2491035"/>
            <a:ext cx="722376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CL" sz="1600" b="0" dirty="0">
                <a:solidFill>
                  <a:srgbClr val="666666"/>
                </a:solidFill>
                <a:latin typeface="Arial"/>
              </a:rPr>
              <a:t>Para el club 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no es solo </a:t>
            </a:r>
            <a:r>
              <a:rPr sz="1600" b="0" dirty="0" err="1">
                <a:solidFill>
                  <a:srgbClr val="666666"/>
                </a:solidFill>
                <a:latin typeface="Arial"/>
              </a:rPr>
              <a:t>tener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 canchas: es </a:t>
            </a:r>
            <a:r>
              <a:rPr sz="1600" b="0" dirty="0" err="1">
                <a:solidFill>
                  <a:srgbClr val="666666"/>
                </a:solidFill>
                <a:latin typeface="Arial"/>
              </a:rPr>
              <a:t>activar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666666"/>
                </a:solidFill>
                <a:latin typeface="Arial"/>
              </a:rPr>
              <a:t>demanda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666666"/>
                </a:solidFill>
                <a:latin typeface="Arial"/>
              </a:rPr>
              <a:t>recurrente</a:t>
            </a:r>
            <a:r>
              <a:rPr sz="1600" b="0" dirty="0">
                <a:solidFill>
                  <a:srgbClr val="666666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5740" y="629317"/>
            <a:ext cx="2260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>
                <a:solidFill>
                  <a:srgbClr val="9E8300"/>
                </a:solidFill>
                <a:latin typeface="Arial"/>
              </a:rPr>
              <a:t>EL PROBLEMA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666666"/>
                </a:solidFill>
                <a:latin typeface="Arial"/>
              </a:rPr>
              <a:t>LIG by NonData&amp;Co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E4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8C66E50-C432-37EB-A584-6EEA33DC9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0" y="492760"/>
            <a:ext cx="566928" cy="5669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Rounded Rectangle 8"/>
          <p:cNvSpPr/>
          <p:nvPr/>
        </p:nvSpPr>
        <p:spPr>
          <a:xfrm>
            <a:off x="680720" y="3042919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1887" y="3207512"/>
            <a:ext cx="48188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Jugadores sueltos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207" y="3606799"/>
            <a:ext cx="481888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 err="1">
                <a:solidFill>
                  <a:srgbClr val="666666"/>
                </a:solidFill>
                <a:latin typeface="Arial"/>
              </a:rPr>
              <a:t>Quieren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jugar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pero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no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siempre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tienen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partner, rival o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grupo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estable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4280" y="3042919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5448" y="3207512"/>
            <a:ext cx="48188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Torneos aislados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5768" y="3606799"/>
            <a:ext cx="481888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 err="1">
                <a:solidFill>
                  <a:srgbClr val="666666"/>
                </a:solidFill>
                <a:latin typeface="Arial"/>
              </a:rPr>
              <a:t>Activan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por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poco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tiempo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pero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no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necesariamente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generan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h</a:t>
            </a:r>
            <a:r>
              <a:rPr lang="es-CL" sz="1100" b="0" dirty="0" err="1">
                <a:solidFill>
                  <a:srgbClr val="666666"/>
                </a:solidFill>
                <a:latin typeface="Arial"/>
              </a:rPr>
              <a:t>abitualidad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0720" y="4551679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1887" y="4716272"/>
            <a:ext cx="48188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Comunidad fragmentada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207" y="5115560"/>
            <a:ext cx="481888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666666"/>
                </a:solidFill>
                <a:latin typeface="Arial"/>
              </a:rPr>
              <a:t>Los </a:t>
            </a:r>
            <a:r>
              <a:rPr lang="es-CL" sz="1100" dirty="0">
                <a:solidFill>
                  <a:srgbClr val="666666"/>
                </a:solidFill>
                <a:latin typeface="Arial"/>
              </a:rPr>
              <a:t>clientes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juegan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, se van y </a:t>
            </a:r>
            <a:r>
              <a:rPr lang="es-CL" sz="1100" b="0" dirty="0">
                <a:solidFill>
                  <a:srgbClr val="666666"/>
                </a:solidFill>
                <a:latin typeface="Arial"/>
              </a:rPr>
              <a:t>la mayoría de las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veces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no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conectan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entre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sí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61050" y="4559808"/>
            <a:ext cx="51663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05448" y="4716272"/>
            <a:ext cx="481888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Poca diferenciación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5768" y="5115560"/>
            <a:ext cx="481888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CL" sz="1100" dirty="0">
                <a:solidFill>
                  <a:srgbClr val="666666"/>
                </a:solidFill>
                <a:latin typeface="Arial"/>
              </a:rPr>
              <a:t>Todos los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clubes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</a:t>
            </a:r>
            <a:r>
              <a:rPr lang="es-CL" sz="1100" b="0" dirty="0">
                <a:solidFill>
                  <a:srgbClr val="666666"/>
                </a:solidFill>
                <a:latin typeface="Arial"/>
              </a:rPr>
              <a:t>hoy,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compiten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solo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por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ubicación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precio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 y </a:t>
            </a:r>
            <a:r>
              <a:rPr sz="1100" b="0" dirty="0" err="1">
                <a:solidFill>
                  <a:srgbClr val="666666"/>
                </a:solidFill>
                <a:latin typeface="Arial"/>
              </a:rPr>
              <a:t>disponibilidad</a:t>
            </a:r>
            <a:r>
              <a:rPr sz="1100" b="0" dirty="0">
                <a:solidFill>
                  <a:srgbClr val="666666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1038840" cy="11695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 dirty="0">
                <a:solidFill>
                  <a:srgbClr val="FFFFFF"/>
                </a:solidFill>
                <a:latin typeface="Arial"/>
              </a:rPr>
              <a:t>El club </a:t>
            </a:r>
            <a:r>
              <a:rPr sz="3800" b="1" dirty="0" err="1">
                <a:solidFill>
                  <a:srgbClr val="FFFFFF"/>
                </a:solidFill>
                <a:latin typeface="Arial"/>
              </a:rPr>
              <a:t>que</a:t>
            </a:r>
            <a:r>
              <a:rPr sz="3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Arial"/>
              </a:rPr>
              <a:t>crea</a:t>
            </a:r>
            <a:r>
              <a:rPr sz="3800" b="1" dirty="0">
                <a:solidFill>
                  <a:srgbClr val="FFFFFF"/>
                </a:solidFill>
                <a:latin typeface="Arial"/>
              </a:rPr>
              <a:t> comunidad </a:t>
            </a:r>
            <a:r>
              <a:rPr sz="3800" b="1" dirty="0" err="1">
                <a:solidFill>
                  <a:srgbClr val="FFFFFF"/>
                </a:solidFill>
                <a:latin typeface="Arial"/>
              </a:rPr>
              <a:t>gana</a:t>
            </a:r>
            <a:r>
              <a:rPr sz="3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Arial"/>
              </a:rPr>
              <a:t>más</a:t>
            </a:r>
            <a:r>
              <a:rPr sz="3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Arial"/>
              </a:rPr>
              <a:t>que</a:t>
            </a:r>
            <a:r>
              <a:rPr sz="3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Arial"/>
              </a:rPr>
              <a:t>el</a:t>
            </a:r>
            <a:r>
              <a:rPr sz="3800" b="1" dirty="0">
                <a:solidFill>
                  <a:srgbClr val="FFFFFF"/>
                </a:solidFill>
                <a:latin typeface="Arial"/>
              </a:rPr>
              <a:t> club </a:t>
            </a:r>
            <a:r>
              <a:rPr sz="3800" b="1" dirty="0" err="1">
                <a:solidFill>
                  <a:srgbClr val="FFFFFF"/>
                </a:solidFill>
                <a:latin typeface="Arial"/>
              </a:rPr>
              <a:t>que</a:t>
            </a:r>
            <a:r>
              <a:rPr sz="3800" b="1" dirty="0">
                <a:solidFill>
                  <a:srgbClr val="FFFFFF"/>
                </a:solidFill>
                <a:latin typeface="Arial"/>
              </a:rPr>
              <a:t> solo </a:t>
            </a:r>
            <a:r>
              <a:rPr sz="3800" b="1" dirty="0" err="1">
                <a:solidFill>
                  <a:srgbClr val="FFFFFF"/>
                </a:solidFill>
                <a:latin typeface="Arial"/>
              </a:rPr>
              <a:t>arrienda</a:t>
            </a:r>
            <a:r>
              <a:rPr sz="3800" b="1" dirty="0">
                <a:solidFill>
                  <a:srgbClr val="FFFFFF"/>
                </a:solidFill>
                <a:latin typeface="Arial"/>
              </a:rPr>
              <a:t> canchas.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35960"/>
            <a:ext cx="74371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Arial"/>
              </a:rPr>
              <a:t>La cancha es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el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activo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físico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. La comunidad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recurrente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es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el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activo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comercial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32918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4318000"/>
            <a:ext cx="109728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dirty="0">
                <a:solidFill>
                  <a:srgbClr val="111111"/>
                </a:solidFill>
                <a:latin typeface="Arial"/>
              </a:rPr>
              <a:t>Cancha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16272"/>
            <a:ext cx="12801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dirty="0">
                <a:solidFill>
                  <a:srgbClr val="666666"/>
                </a:solidFill>
                <a:latin typeface="Arial"/>
              </a:rPr>
              <a:t>Uso </a:t>
            </a:r>
            <a:r>
              <a:rPr sz="1200" b="0" dirty="0" err="1">
                <a:solidFill>
                  <a:srgbClr val="666666"/>
                </a:solidFill>
                <a:latin typeface="Arial"/>
              </a:rPr>
              <a:t>puntual</a:t>
            </a:r>
            <a:endParaRPr sz="1200" b="0" dirty="0">
              <a:solidFill>
                <a:srgbClr val="666666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97680" y="4160520"/>
            <a:ext cx="32918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4318000"/>
            <a:ext cx="14630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>
                <a:solidFill>
                  <a:srgbClr val="111111"/>
                </a:solidFill>
                <a:latin typeface="Arial"/>
              </a:rPr>
              <a:t>Comunidad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716272"/>
            <a:ext cx="128016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</a:rPr>
              <a:t>Recurrencia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160520"/>
            <a:ext cx="32918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4318000"/>
            <a:ext cx="109728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>
                <a:solidFill>
                  <a:srgbClr val="111111"/>
                </a:solidFill>
                <a:latin typeface="Arial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716272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rial"/>
              </a:rPr>
              <a:t>Fidelización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82499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dirty="0">
                <a:solidFill>
                  <a:srgbClr val="C8A600"/>
                </a:solidFill>
                <a:latin typeface="Arial"/>
              </a:rPr>
              <a:t>No basta con </a:t>
            </a:r>
            <a:r>
              <a:rPr sz="1600" b="1" dirty="0" err="1">
                <a:solidFill>
                  <a:srgbClr val="C8A600"/>
                </a:solidFill>
                <a:latin typeface="Arial"/>
              </a:rPr>
              <a:t>tener</a:t>
            </a:r>
            <a:r>
              <a:rPr sz="1600" b="1" dirty="0">
                <a:solidFill>
                  <a:srgbClr val="C8A600"/>
                </a:solidFill>
                <a:latin typeface="Arial"/>
              </a:rPr>
              <a:t> canchas</a:t>
            </a:r>
            <a:r>
              <a:rPr sz="1300" b="1" dirty="0">
                <a:solidFill>
                  <a:srgbClr val="C8A600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C8A600"/>
                </a:solidFill>
                <a:latin typeface="Arial"/>
              </a:rPr>
              <a:t>disponibles</a:t>
            </a:r>
            <a:r>
              <a:rPr sz="1600" b="1" dirty="0">
                <a:solidFill>
                  <a:srgbClr val="C8A600"/>
                </a:solidFill>
                <a:latin typeface="Arial"/>
              </a:rPr>
              <a:t>. Hay </a:t>
            </a:r>
            <a:r>
              <a:rPr sz="1600" b="1" dirty="0" err="1">
                <a:solidFill>
                  <a:srgbClr val="C8A600"/>
                </a:solidFill>
                <a:latin typeface="Arial"/>
              </a:rPr>
              <a:t>que</a:t>
            </a:r>
            <a:r>
              <a:rPr sz="1600" b="1" dirty="0">
                <a:solidFill>
                  <a:srgbClr val="C8A600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C8A600"/>
                </a:solidFill>
                <a:latin typeface="Arial"/>
              </a:rPr>
              <a:t>crear</a:t>
            </a:r>
            <a:r>
              <a:rPr sz="1600" b="1" dirty="0">
                <a:solidFill>
                  <a:srgbClr val="C8A600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C8A600"/>
                </a:solidFill>
                <a:latin typeface="Arial"/>
              </a:rPr>
              <a:t>razones</a:t>
            </a:r>
            <a:r>
              <a:rPr sz="1600" b="1" dirty="0">
                <a:solidFill>
                  <a:srgbClr val="C8A600"/>
                </a:solidFill>
                <a:latin typeface="Arial"/>
              </a:rPr>
              <a:t> para </a:t>
            </a:r>
            <a:r>
              <a:rPr sz="1600" b="1" dirty="0" err="1">
                <a:solidFill>
                  <a:srgbClr val="C8A600"/>
                </a:solidFill>
                <a:latin typeface="Arial"/>
              </a:rPr>
              <a:t>volver</a:t>
            </a:r>
            <a:r>
              <a:rPr sz="1300" b="1" dirty="0">
                <a:solidFill>
                  <a:srgbClr val="C8A600"/>
                </a:solidFill>
                <a:latin typeface="Arial"/>
              </a:rPr>
              <a:t>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7E1E17F-9CEF-A9AB-D9E9-417147DDC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0" y="492760"/>
            <a:ext cx="566928" cy="5669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9D64ADA2-106F-C120-1C3C-A5AFD36295F5}"/>
              </a:ext>
            </a:extLst>
          </p:cNvPr>
          <p:cNvSpPr txBox="1"/>
          <p:nvPr/>
        </p:nvSpPr>
        <p:spPr>
          <a:xfrm>
            <a:off x="1475740" y="629317"/>
            <a:ext cx="2260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dirty="0">
                <a:solidFill>
                  <a:srgbClr val="9E8300"/>
                </a:solidFill>
                <a:latin typeface="Arial"/>
              </a:rPr>
              <a:t>EL </a:t>
            </a:r>
            <a:r>
              <a:rPr lang="es-CL" sz="2400" b="1" dirty="0">
                <a:solidFill>
                  <a:srgbClr val="9E8300"/>
                </a:solidFill>
                <a:latin typeface="Arial"/>
              </a:rPr>
              <a:t>INSIGHT</a:t>
            </a:r>
            <a:endParaRPr sz="2400" b="1" dirty="0">
              <a:solidFill>
                <a:srgbClr val="9E83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78F6AC-4A57-0374-D72A-0D9B3B645835}"/>
              </a:ext>
            </a:extLst>
          </p:cNvPr>
          <p:cNvSpPr/>
          <p:nvPr/>
        </p:nvSpPr>
        <p:spPr>
          <a:xfrm>
            <a:off x="4327907" y="4268977"/>
            <a:ext cx="3354850" cy="104326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9" name="Rounded Rectangle 12">
            <a:extLst>
              <a:ext uri="{FF2B5EF4-FFF2-40B4-BE49-F238E27FC236}">
                <a16:creationId xmlns:a16="http://schemas.microsoft.com/office/drawing/2014/main" id="{F01D862A-7F31-9A55-F378-C602748B4E8B}"/>
              </a:ext>
            </a:extLst>
          </p:cNvPr>
          <p:cNvSpPr/>
          <p:nvPr/>
        </p:nvSpPr>
        <p:spPr>
          <a:xfrm>
            <a:off x="4358640" y="4240272"/>
            <a:ext cx="34137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1236458E-F236-EB70-91CD-DB00E930B9C5}"/>
              </a:ext>
            </a:extLst>
          </p:cNvPr>
          <p:cNvSpPr/>
          <p:nvPr/>
        </p:nvSpPr>
        <p:spPr>
          <a:xfrm>
            <a:off x="685800" y="4240272"/>
            <a:ext cx="3324896" cy="1043954"/>
          </a:xfrm>
          <a:prstGeom prst="roundRect">
            <a:avLst/>
          </a:prstGeom>
          <a:solidFill>
            <a:srgbClr val="C8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7" name="Rounded Rectangle 8">
            <a:extLst>
              <a:ext uri="{FF2B5EF4-FFF2-40B4-BE49-F238E27FC236}">
                <a16:creationId xmlns:a16="http://schemas.microsoft.com/office/drawing/2014/main" id="{0DE03486-FB9C-B327-1C56-E7546A204D77}"/>
              </a:ext>
            </a:extLst>
          </p:cNvPr>
          <p:cNvSpPr/>
          <p:nvPr/>
        </p:nvSpPr>
        <p:spPr>
          <a:xfrm>
            <a:off x="722631" y="4222200"/>
            <a:ext cx="3383280" cy="107970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006A385C-09DC-5D65-38A4-E42DE1F9BE0C}"/>
              </a:ext>
            </a:extLst>
          </p:cNvPr>
          <p:cNvSpPr/>
          <p:nvPr/>
        </p:nvSpPr>
        <p:spPr>
          <a:xfrm>
            <a:off x="648969" y="2723440"/>
            <a:ext cx="3324896" cy="1043954"/>
          </a:xfrm>
          <a:prstGeom prst="roundRect">
            <a:avLst/>
          </a:prstGeom>
          <a:solidFill>
            <a:srgbClr val="C8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ounded Rectangle 8">
            <a:extLst>
              <a:ext uri="{FF2B5EF4-FFF2-40B4-BE49-F238E27FC236}">
                <a16:creationId xmlns:a16="http://schemas.microsoft.com/office/drawing/2014/main" id="{DC562DAD-0E91-3743-DFD4-CB482F2E86FF}"/>
              </a:ext>
            </a:extLst>
          </p:cNvPr>
          <p:cNvSpPr/>
          <p:nvPr/>
        </p:nvSpPr>
        <p:spPr>
          <a:xfrm>
            <a:off x="685800" y="2694735"/>
            <a:ext cx="3383280" cy="107970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6FE0B67B-6AEE-86E9-30CB-2059385926BF}"/>
              </a:ext>
            </a:extLst>
          </p:cNvPr>
          <p:cNvSpPr/>
          <p:nvPr/>
        </p:nvSpPr>
        <p:spPr>
          <a:xfrm>
            <a:off x="4358387" y="2717130"/>
            <a:ext cx="3354850" cy="104326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5" name="Rounded Rectangle 12">
            <a:extLst>
              <a:ext uri="{FF2B5EF4-FFF2-40B4-BE49-F238E27FC236}">
                <a16:creationId xmlns:a16="http://schemas.microsoft.com/office/drawing/2014/main" id="{5DF34A21-0FA6-2CDC-F169-2D542E96AB1C}"/>
              </a:ext>
            </a:extLst>
          </p:cNvPr>
          <p:cNvSpPr/>
          <p:nvPr/>
        </p:nvSpPr>
        <p:spPr>
          <a:xfrm>
            <a:off x="4389120" y="2688424"/>
            <a:ext cx="3413760" cy="10860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E37DC9DA-9516-BE14-634F-AE66306CF44F}"/>
              </a:ext>
            </a:extLst>
          </p:cNvPr>
          <p:cNvSpPr/>
          <p:nvPr/>
        </p:nvSpPr>
        <p:spPr>
          <a:xfrm>
            <a:off x="8061707" y="2724153"/>
            <a:ext cx="3354850" cy="104326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Rounded Rectangle 12">
            <a:extLst>
              <a:ext uri="{FF2B5EF4-FFF2-40B4-BE49-F238E27FC236}">
                <a16:creationId xmlns:a16="http://schemas.microsoft.com/office/drawing/2014/main" id="{3048266F-CD87-3A95-966E-C94F04A0B7F9}"/>
              </a:ext>
            </a:extLst>
          </p:cNvPr>
          <p:cNvSpPr/>
          <p:nvPr/>
        </p:nvSpPr>
        <p:spPr>
          <a:xfrm>
            <a:off x="8092440" y="2695448"/>
            <a:ext cx="34137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0720" y="1810220"/>
            <a:ext cx="82702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666666"/>
                </a:solidFill>
                <a:latin typeface="Arial"/>
              </a:rPr>
              <a:t>Cada </a:t>
            </a:r>
            <a:r>
              <a:rPr sz="1400" b="0" dirty="0" err="1">
                <a:solidFill>
                  <a:srgbClr val="666666"/>
                </a:solidFill>
                <a:latin typeface="Arial"/>
              </a:rPr>
              <a:t>jugador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se inscribe </a:t>
            </a:r>
            <a:r>
              <a:rPr sz="1400" b="0" dirty="0" err="1">
                <a:solidFill>
                  <a:srgbClr val="666666"/>
                </a:solidFill>
                <a:latin typeface="Arial"/>
              </a:rPr>
              <a:t>individualmente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666666"/>
                </a:solidFill>
                <a:latin typeface="Arial"/>
              </a:rPr>
              <a:t>rota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de </a:t>
            </a:r>
            <a:r>
              <a:rPr sz="1400" b="0" dirty="0" err="1">
                <a:solidFill>
                  <a:srgbClr val="666666"/>
                </a:solidFill>
                <a:latin typeface="Arial"/>
              </a:rPr>
              <a:t>compañero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y </a:t>
            </a:r>
            <a:r>
              <a:rPr sz="1400" b="0" dirty="0" err="1">
                <a:solidFill>
                  <a:srgbClr val="666666"/>
                </a:solidFill>
                <a:latin typeface="Arial"/>
              </a:rPr>
              <a:t>acumula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puntos </a:t>
            </a:r>
            <a:r>
              <a:rPr sz="1400" b="0" dirty="0" err="1">
                <a:solidFill>
                  <a:srgbClr val="666666"/>
                </a:solidFill>
                <a:latin typeface="Arial"/>
              </a:rPr>
              <a:t>en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un ranking </a:t>
            </a:r>
            <a:r>
              <a:rPr sz="1400" b="0" dirty="0" err="1">
                <a:solidFill>
                  <a:srgbClr val="666666"/>
                </a:solidFill>
                <a:latin typeface="Arial"/>
              </a:rPr>
              <a:t>propio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87472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Inscripción individual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25800"/>
            <a:ext cx="3035808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>
                <a:solidFill>
                  <a:srgbClr val="666666"/>
                </a:solidFill>
                <a:latin typeface="Arial"/>
              </a:rPr>
              <a:t>El jugador no necesita pareja fija para entrar.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887472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Partners rotativos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225800"/>
            <a:ext cx="3035808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>
                <a:solidFill>
                  <a:srgbClr val="666666"/>
                </a:solidFill>
                <a:latin typeface="Arial"/>
              </a:rPr>
              <a:t>Cada fecha juega con un compañero distinto.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396232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Ranking vivo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734560"/>
            <a:ext cx="3035808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>
                <a:solidFill>
                  <a:srgbClr val="666666"/>
                </a:solidFill>
                <a:latin typeface="Arial"/>
              </a:rPr>
              <a:t>Cada resultado impacta la tabla y el historial.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396232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H2H y estadísticas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734560"/>
            <a:ext cx="3035808" cy="150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 dirty="0">
                <a:solidFill>
                  <a:srgbClr val="666666"/>
                </a:solidFill>
                <a:latin typeface="Arial"/>
              </a:rPr>
              <a:t>Cada </a:t>
            </a:r>
            <a:r>
              <a:rPr sz="980" b="0" dirty="0" err="1">
                <a:solidFill>
                  <a:srgbClr val="666666"/>
                </a:solidFill>
                <a:latin typeface="Arial"/>
              </a:rPr>
              <a:t>partido</a:t>
            </a:r>
            <a:r>
              <a:rPr sz="98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980" b="0" dirty="0" err="1">
                <a:solidFill>
                  <a:srgbClr val="666666"/>
                </a:solidFill>
                <a:latin typeface="Arial"/>
              </a:rPr>
              <a:t>deja</a:t>
            </a:r>
            <a:r>
              <a:rPr sz="980" b="0" dirty="0">
                <a:solidFill>
                  <a:srgbClr val="666666"/>
                </a:solidFill>
                <a:latin typeface="Arial"/>
              </a:rPr>
              <a:t> data y </a:t>
            </a:r>
            <a:r>
              <a:rPr sz="980" b="0" dirty="0" err="1">
                <a:solidFill>
                  <a:srgbClr val="666666"/>
                </a:solidFill>
                <a:latin typeface="Arial"/>
              </a:rPr>
              <a:t>contexto</a:t>
            </a:r>
            <a:r>
              <a:rPr sz="980" b="0" dirty="0">
                <a:solidFill>
                  <a:srgbClr val="666666"/>
                </a:solidFill>
                <a:latin typeface="Arial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4652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666666"/>
                </a:solidFill>
                <a:latin typeface="Arial"/>
              </a:rPr>
              <a:t>LIG by NonData&amp;Co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E4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2">
            <a:extLst>
              <a:ext uri="{FF2B5EF4-FFF2-40B4-BE49-F238E27FC236}">
                <a16:creationId xmlns:a16="http://schemas.microsoft.com/office/drawing/2014/main" id="{349FA9CE-F57A-BAA2-91C3-836E37F782FA}"/>
              </a:ext>
            </a:extLst>
          </p:cNvPr>
          <p:cNvSpPr txBox="1"/>
          <p:nvPr/>
        </p:nvSpPr>
        <p:spPr>
          <a:xfrm>
            <a:off x="680720" y="622910"/>
            <a:ext cx="7680960" cy="7694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L" sz="2500" b="1" dirty="0">
                <a:solidFill>
                  <a:srgbClr val="111111"/>
                </a:solidFill>
                <a:latin typeface="Arial"/>
              </a:rPr>
              <a:t>LIG transforma jugadores individuales en temporadas competitivas organizadas.</a:t>
            </a: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B6AF60A2-598E-0062-E75F-7D6D31B27CA2}"/>
              </a:ext>
            </a:extLst>
          </p:cNvPr>
          <p:cNvSpPr txBox="1"/>
          <p:nvPr/>
        </p:nvSpPr>
        <p:spPr>
          <a:xfrm>
            <a:off x="8293608" y="2887472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111111"/>
                </a:solidFill>
                <a:latin typeface="Arial"/>
              </a:rPr>
              <a:t>Fixture </a:t>
            </a:r>
            <a:r>
              <a:rPr sz="1300" b="1" dirty="0" err="1">
                <a:solidFill>
                  <a:srgbClr val="111111"/>
                </a:solidFill>
                <a:latin typeface="Arial"/>
              </a:rPr>
              <a:t>armado</a:t>
            </a:r>
            <a:endParaRPr sz="1300" b="1" dirty="0">
              <a:solidFill>
                <a:srgbClr val="111111"/>
              </a:solidFill>
              <a:latin typeface="Arial"/>
            </a:endParaRPr>
          </a:p>
        </p:txBody>
      </p:sp>
      <p:sp>
        <p:nvSpPr>
          <p:cNvPr id="43" name="TextBox 18">
            <a:extLst>
              <a:ext uri="{FF2B5EF4-FFF2-40B4-BE49-F238E27FC236}">
                <a16:creationId xmlns:a16="http://schemas.microsoft.com/office/drawing/2014/main" id="{77988219-96FE-D059-4F2C-790D7C15AA84}"/>
              </a:ext>
            </a:extLst>
          </p:cNvPr>
          <p:cNvSpPr txBox="1"/>
          <p:nvPr/>
        </p:nvSpPr>
        <p:spPr>
          <a:xfrm>
            <a:off x="8293608" y="3225800"/>
            <a:ext cx="3035808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>
                <a:solidFill>
                  <a:srgbClr val="666666"/>
                </a:solidFill>
                <a:latin typeface="Arial"/>
              </a:rPr>
              <a:t>La temporada queda estructurada desde el inicio.</a:t>
            </a: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D9338143-4F92-F5B2-B385-C3AB1FA6C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800" y="492760"/>
            <a:ext cx="566928" cy="5669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680960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chemeClr val="bg1"/>
                </a:solidFill>
                <a:latin typeface="Arial"/>
              </a:rPr>
              <a:t>7 fechas. Partners rotativos. Ranking individual.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722376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chemeClr val="bg1"/>
                </a:solidFill>
                <a:latin typeface="Arial"/>
              </a:rPr>
              <a:t>Un formato simple de activar y fácil de entender para jugadores y clubes.</a:t>
            </a:r>
          </a:p>
        </p:txBody>
      </p:sp>
      <p:sp>
        <p:nvSpPr>
          <p:cNvPr id="8" name="Oval 7"/>
          <p:cNvSpPr/>
          <p:nvPr/>
        </p:nvSpPr>
        <p:spPr>
          <a:xfrm>
            <a:off x="2478238" y="1700148"/>
            <a:ext cx="384048" cy="38404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97110" y="1796160"/>
            <a:ext cx="137160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886" y="1718436"/>
            <a:ext cx="402336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 dirty="0">
                <a:solidFill>
                  <a:schemeClr val="bg1"/>
                </a:solidFill>
                <a:latin typeface="Arial"/>
              </a:rPr>
              <a:t>El club </a:t>
            </a:r>
            <a:r>
              <a:rPr sz="1250" b="1" dirty="0" err="1">
                <a:solidFill>
                  <a:schemeClr val="bg1"/>
                </a:solidFill>
                <a:latin typeface="Arial"/>
              </a:rPr>
              <a:t>activa</a:t>
            </a:r>
            <a:r>
              <a:rPr sz="1250" b="1" dirty="0">
                <a:solidFill>
                  <a:schemeClr val="bg1"/>
                </a:solidFill>
                <a:latin typeface="Arial"/>
              </a:rPr>
              <a:t> </a:t>
            </a:r>
            <a:r>
              <a:rPr sz="1250" b="1" dirty="0" err="1">
                <a:solidFill>
                  <a:schemeClr val="bg1"/>
                </a:solidFill>
                <a:latin typeface="Arial"/>
              </a:rPr>
              <a:t>una</a:t>
            </a:r>
            <a:r>
              <a:rPr sz="1250" b="1" dirty="0">
                <a:solidFill>
                  <a:schemeClr val="bg1"/>
                </a:solidFill>
                <a:latin typeface="Arial"/>
              </a:rPr>
              <a:t> </a:t>
            </a:r>
            <a:r>
              <a:rPr sz="1250" b="1" dirty="0" err="1">
                <a:solidFill>
                  <a:schemeClr val="bg1"/>
                </a:solidFill>
                <a:latin typeface="Arial"/>
              </a:rPr>
              <a:t>temporada</a:t>
            </a:r>
            <a:endParaRPr sz="125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90886" y="1992756"/>
            <a:ext cx="4754880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chemeClr val="bg1"/>
                </a:solidFill>
                <a:latin typeface="Arial"/>
              </a:rPr>
              <a:t>Grupo, nivel, calendario y modalidad.</a:t>
            </a:r>
          </a:p>
        </p:txBody>
      </p:sp>
      <p:sp>
        <p:nvSpPr>
          <p:cNvPr id="12" name="Oval 11"/>
          <p:cNvSpPr/>
          <p:nvPr/>
        </p:nvSpPr>
        <p:spPr>
          <a:xfrm>
            <a:off x="2478238" y="2477388"/>
            <a:ext cx="384048" cy="38404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97110" y="2573400"/>
            <a:ext cx="137160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886" y="2495676"/>
            <a:ext cx="402336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chemeClr val="bg1"/>
                </a:solidFill>
                <a:latin typeface="Arial"/>
              </a:rPr>
              <a:t>Los jugadores se inscriben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886" y="2769996"/>
            <a:ext cx="4754880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chemeClr val="bg1"/>
                </a:solidFill>
                <a:latin typeface="Arial"/>
              </a:rPr>
              <a:t>Ingreso individual, no como dupla fija.</a:t>
            </a:r>
          </a:p>
        </p:txBody>
      </p:sp>
      <p:sp>
        <p:nvSpPr>
          <p:cNvPr id="16" name="Oval 15"/>
          <p:cNvSpPr/>
          <p:nvPr/>
        </p:nvSpPr>
        <p:spPr>
          <a:xfrm>
            <a:off x="2478238" y="3254627"/>
            <a:ext cx="384048" cy="38404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97110" y="3350639"/>
            <a:ext cx="137160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886" y="3272915"/>
            <a:ext cx="402336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chemeClr val="bg1"/>
                </a:solidFill>
                <a:latin typeface="Arial"/>
              </a:rPr>
              <a:t>LIG organiza fixture y divisiones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886" y="3547235"/>
            <a:ext cx="4754880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chemeClr val="bg1"/>
                </a:solidFill>
                <a:latin typeface="Arial"/>
              </a:rPr>
              <a:t>Competencia estructurada por nivel.</a:t>
            </a:r>
          </a:p>
        </p:txBody>
      </p:sp>
      <p:sp>
        <p:nvSpPr>
          <p:cNvPr id="20" name="Oval 19"/>
          <p:cNvSpPr/>
          <p:nvPr/>
        </p:nvSpPr>
        <p:spPr>
          <a:xfrm>
            <a:off x="2478238" y="4031867"/>
            <a:ext cx="384048" cy="38404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97110" y="4127879"/>
            <a:ext cx="137160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886" y="4050155"/>
            <a:ext cx="402336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chemeClr val="bg1"/>
                </a:solidFill>
                <a:latin typeface="Arial"/>
              </a:rPr>
              <a:t>Se juegan las fechas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0886" y="4324475"/>
            <a:ext cx="4754880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chemeClr val="bg1"/>
                </a:solidFill>
                <a:latin typeface="Arial"/>
              </a:rPr>
              <a:t>Rotación de partners y rivales.</a:t>
            </a:r>
          </a:p>
        </p:txBody>
      </p:sp>
      <p:sp>
        <p:nvSpPr>
          <p:cNvPr id="24" name="Oval 23"/>
          <p:cNvSpPr/>
          <p:nvPr/>
        </p:nvSpPr>
        <p:spPr>
          <a:xfrm>
            <a:off x="2478238" y="4809108"/>
            <a:ext cx="384048" cy="38404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97110" y="4905120"/>
            <a:ext cx="137160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0886" y="4827395"/>
            <a:ext cx="402336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chemeClr val="bg1"/>
                </a:solidFill>
                <a:latin typeface="Arial"/>
              </a:rPr>
              <a:t>La app actualiza todo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0886" y="5101716"/>
            <a:ext cx="4754880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dirty="0" err="1">
                <a:solidFill>
                  <a:schemeClr val="bg1"/>
                </a:solidFill>
                <a:latin typeface="Arial"/>
              </a:rPr>
              <a:t>Tabla</a:t>
            </a:r>
            <a:r>
              <a:rPr sz="950" b="0" dirty="0">
                <a:solidFill>
                  <a:schemeClr val="bg1"/>
                </a:solidFill>
                <a:latin typeface="Arial"/>
              </a:rPr>
              <a:t>, </a:t>
            </a:r>
            <a:r>
              <a:rPr sz="950" b="0" dirty="0" err="1">
                <a:solidFill>
                  <a:schemeClr val="bg1"/>
                </a:solidFill>
                <a:latin typeface="Arial"/>
              </a:rPr>
              <a:t>resultados</a:t>
            </a:r>
            <a:r>
              <a:rPr sz="950" b="0" dirty="0">
                <a:solidFill>
                  <a:schemeClr val="bg1"/>
                </a:solidFill>
                <a:latin typeface="Arial"/>
              </a:rPr>
              <a:t>, H2H, ranking y </a:t>
            </a:r>
            <a:r>
              <a:rPr sz="950" b="0" dirty="0" err="1">
                <a:solidFill>
                  <a:schemeClr val="bg1"/>
                </a:solidFill>
                <a:latin typeface="Arial"/>
              </a:rPr>
              <a:t>estadísticas</a:t>
            </a:r>
            <a:r>
              <a:rPr sz="950" b="0" dirty="0">
                <a:solidFill>
                  <a:schemeClr val="bg1"/>
                </a:solidFill>
                <a:latin typeface="Arial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2359" y="1700148"/>
            <a:ext cx="2736820" cy="3566160"/>
          </a:xfrm>
          <a:prstGeom prst="roundRect">
            <a:avLst/>
          </a:prstGeom>
          <a:solidFill>
            <a:schemeClr val="bg2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82399" y="19744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Formato LIG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82399" y="2502087"/>
            <a:ext cx="2057400" cy="292608"/>
          </a:xfrm>
          <a:prstGeom prst="round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dirty="0">
                <a:solidFill>
                  <a:srgbClr val="111111"/>
                </a:solidFill>
                <a:latin typeface="Arial"/>
              </a:rPr>
              <a:t>7 </a:t>
            </a:r>
            <a:r>
              <a:rPr sz="850" b="1" dirty="0" err="1">
                <a:solidFill>
                  <a:srgbClr val="111111"/>
                </a:solidFill>
                <a:latin typeface="Arial"/>
              </a:rPr>
              <a:t>fechas</a:t>
            </a:r>
            <a:endParaRPr sz="850" b="1" dirty="0">
              <a:solidFill>
                <a:srgbClr val="111111"/>
              </a:solidFill>
              <a:latin typeface="Arial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982399" y="3187887"/>
            <a:ext cx="2057400" cy="292608"/>
          </a:xfrm>
          <a:prstGeom prst="round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11111"/>
                </a:solidFill>
                <a:latin typeface="Arial"/>
              </a:rPr>
              <a:t>7 partners distintos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82399" y="3873687"/>
            <a:ext cx="2057400" cy="292608"/>
          </a:xfrm>
          <a:prstGeom prst="round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11111"/>
                </a:solidFill>
                <a:latin typeface="Arial"/>
              </a:rPr>
              <a:t>Ranking individual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82399" y="4559487"/>
            <a:ext cx="2057400" cy="292608"/>
          </a:xfrm>
          <a:prstGeom prst="round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11111"/>
                </a:solidFill>
                <a:latin typeface="Arial"/>
              </a:rPr>
              <a:t>Historial competitivo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46520"/>
            <a:ext cx="2011680" cy="115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chemeClr val="bg1">
                    <a:lumMod val="95000"/>
                  </a:schemeClr>
                </a:solidFill>
                <a:latin typeface="Arial"/>
              </a:rPr>
              <a:t>LIG by NonData&amp;Co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E4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3"/>
          <p:cNvSpPr txBox="1"/>
          <p:nvPr/>
        </p:nvSpPr>
        <p:spPr>
          <a:xfrm>
            <a:off x="779719" y="5795264"/>
            <a:ext cx="9831573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1" dirty="0">
                <a:solidFill>
                  <a:srgbClr val="9E8300"/>
                </a:solidFill>
                <a:latin typeface="Arial"/>
              </a:rPr>
              <a:t>No </a:t>
            </a:r>
            <a:r>
              <a:rPr b="1" dirty="0" err="1">
                <a:solidFill>
                  <a:srgbClr val="9E8300"/>
                </a:solidFill>
                <a:latin typeface="Arial"/>
              </a:rPr>
              <a:t>gana</a:t>
            </a:r>
            <a:r>
              <a:rPr b="1" dirty="0">
                <a:solidFill>
                  <a:srgbClr val="9E8300"/>
                </a:solidFill>
                <a:latin typeface="Arial"/>
              </a:rPr>
              <a:t> la </a:t>
            </a:r>
            <a:r>
              <a:rPr b="1" dirty="0" err="1">
                <a:solidFill>
                  <a:srgbClr val="9E8300"/>
                </a:solidFill>
                <a:latin typeface="Arial"/>
              </a:rPr>
              <a:t>mejor</a:t>
            </a:r>
            <a:r>
              <a:rPr b="1" dirty="0">
                <a:solidFill>
                  <a:srgbClr val="9E8300"/>
                </a:solidFill>
                <a:latin typeface="Arial"/>
              </a:rPr>
              <a:t> </a:t>
            </a:r>
            <a:r>
              <a:rPr b="1" dirty="0" err="1">
                <a:solidFill>
                  <a:srgbClr val="9E8300"/>
                </a:solidFill>
                <a:latin typeface="Arial"/>
              </a:rPr>
              <a:t>dupla</a:t>
            </a:r>
            <a:r>
              <a:rPr b="1" dirty="0">
                <a:solidFill>
                  <a:srgbClr val="9E8300"/>
                </a:solidFill>
                <a:latin typeface="Arial"/>
              </a:rPr>
              <a:t> </a:t>
            </a:r>
            <a:r>
              <a:rPr b="1" dirty="0" err="1">
                <a:solidFill>
                  <a:srgbClr val="9E8300"/>
                </a:solidFill>
                <a:latin typeface="Arial"/>
              </a:rPr>
              <a:t>fija</a:t>
            </a:r>
            <a:r>
              <a:rPr b="1" dirty="0">
                <a:solidFill>
                  <a:srgbClr val="9E8300"/>
                </a:solidFill>
                <a:latin typeface="Arial"/>
              </a:rPr>
              <a:t>. Gana </a:t>
            </a:r>
            <a:r>
              <a:rPr b="1" dirty="0" err="1">
                <a:solidFill>
                  <a:srgbClr val="9E8300"/>
                </a:solidFill>
                <a:latin typeface="Arial"/>
              </a:rPr>
              <a:t>el</a:t>
            </a:r>
            <a:r>
              <a:rPr b="1" dirty="0">
                <a:solidFill>
                  <a:srgbClr val="9E8300"/>
                </a:solidFill>
                <a:latin typeface="Arial"/>
              </a:rPr>
              <a:t> </a:t>
            </a:r>
            <a:r>
              <a:rPr b="1" dirty="0" err="1">
                <a:solidFill>
                  <a:srgbClr val="9E8300"/>
                </a:solidFill>
                <a:latin typeface="Arial"/>
              </a:rPr>
              <a:t>jugador</a:t>
            </a:r>
            <a:r>
              <a:rPr b="1" dirty="0">
                <a:solidFill>
                  <a:srgbClr val="9E8300"/>
                </a:solidFill>
                <a:latin typeface="Arial"/>
              </a:rPr>
              <a:t> </a:t>
            </a:r>
            <a:r>
              <a:rPr b="1" dirty="0" err="1">
                <a:solidFill>
                  <a:srgbClr val="9E8300"/>
                </a:solidFill>
                <a:latin typeface="Arial"/>
              </a:rPr>
              <a:t>más</a:t>
            </a:r>
            <a:r>
              <a:rPr b="1" dirty="0">
                <a:solidFill>
                  <a:srgbClr val="9E8300"/>
                </a:solidFill>
                <a:latin typeface="Arial"/>
              </a:rPr>
              <a:t> </a:t>
            </a:r>
            <a:r>
              <a:rPr b="1" dirty="0" err="1">
                <a:solidFill>
                  <a:srgbClr val="9E8300"/>
                </a:solidFill>
                <a:latin typeface="Arial"/>
              </a:rPr>
              <a:t>consistente</a:t>
            </a:r>
            <a:r>
              <a:rPr b="1" dirty="0">
                <a:solidFill>
                  <a:srgbClr val="9E8300"/>
                </a:solidFill>
                <a:latin typeface="Arial"/>
              </a:rPr>
              <a:t>.</a:t>
            </a:r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6570C734-7891-8B38-DD7D-CCB83AB84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0823" y="492760"/>
            <a:ext cx="566928" cy="5669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60" y="0"/>
            <a:ext cx="12191999" cy="6858000"/>
          </a:xfrm>
          <a:prstGeom prst="rect">
            <a:avLst/>
          </a:prstGeom>
          <a:solidFill>
            <a:srgbClr val="F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12">
            <a:extLst>
              <a:ext uri="{FF2B5EF4-FFF2-40B4-BE49-F238E27FC236}">
                <a16:creationId xmlns:a16="http://schemas.microsoft.com/office/drawing/2014/main" id="{B38D9226-7AB2-211B-E555-FA1F731347FF}"/>
              </a:ext>
            </a:extLst>
          </p:cNvPr>
          <p:cNvSpPr/>
          <p:nvPr/>
        </p:nvSpPr>
        <p:spPr>
          <a:xfrm>
            <a:off x="7621954" y="4290236"/>
            <a:ext cx="3035885" cy="762376"/>
          </a:xfrm>
          <a:prstGeom prst="round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12">
            <a:extLst>
              <a:ext uri="{FF2B5EF4-FFF2-40B4-BE49-F238E27FC236}">
                <a16:creationId xmlns:a16="http://schemas.microsoft.com/office/drawing/2014/main" id="{4D810B0E-32FB-FC9F-4A82-04B830A14FE5}"/>
              </a:ext>
            </a:extLst>
          </p:cNvPr>
          <p:cNvSpPr/>
          <p:nvPr/>
        </p:nvSpPr>
        <p:spPr>
          <a:xfrm>
            <a:off x="7621954" y="3027070"/>
            <a:ext cx="3035885" cy="762376"/>
          </a:xfrm>
          <a:prstGeom prst="round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12">
            <a:extLst>
              <a:ext uri="{FF2B5EF4-FFF2-40B4-BE49-F238E27FC236}">
                <a16:creationId xmlns:a16="http://schemas.microsoft.com/office/drawing/2014/main" id="{B66282F3-E780-230E-00C9-4C62E6CAC665}"/>
              </a:ext>
            </a:extLst>
          </p:cNvPr>
          <p:cNvSpPr/>
          <p:nvPr/>
        </p:nvSpPr>
        <p:spPr>
          <a:xfrm>
            <a:off x="1837437" y="4882656"/>
            <a:ext cx="3035885" cy="762376"/>
          </a:xfrm>
          <a:prstGeom prst="round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12">
            <a:extLst>
              <a:ext uri="{FF2B5EF4-FFF2-40B4-BE49-F238E27FC236}">
                <a16:creationId xmlns:a16="http://schemas.microsoft.com/office/drawing/2014/main" id="{66A27FBF-88AD-7D3B-5091-C3E66E85480B}"/>
              </a:ext>
            </a:extLst>
          </p:cNvPr>
          <p:cNvSpPr/>
          <p:nvPr/>
        </p:nvSpPr>
        <p:spPr>
          <a:xfrm>
            <a:off x="1857757" y="3671750"/>
            <a:ext cx="3035885" cy="762376"/>
          </a:xfrm>
          <a:prstGeom prst="round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12">
            <a:extLst>
              <a:ext uri="{FF2B5EF4-FFF2-40B4-BE49-F238E27FC236}">
                <a16:creationId xmlns:a16="http://schemas.microsoft.com/office/drawing/2014/main" id="{8CEDD01B-F82C-5F8C-2C86-C941E389D721}"/>
              </a:ext>
            </a:extLst>
          </p:cNvPr>
          <p:cNvSpPr/>
          <p:nvPr/>
        </p:nvSpPr>
        <p:spPr>
          <a:xfrm>
            <a:off x="1837437" y="2421101"/>
            <a:ext cx="3035885" cy="762376"/>
          </a:xfrm>
          <a:prstGeom prst="roundRect">
            <a:avLst/>
          </a:prstGeom>
          <a:solidFill>
            <a:srgbClr val="FFFFFF"/>
          </a:solidFill>
          <a:ln w="1016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6440" y="617292"/>
            <a:ext cx="8641080" cy="3847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 dirty="0">
                <a:solidFill>
                  <a:srgbClr val="111111"/>
                </a:solidFill>
                <a:latin typeface="Arial"/>
              </a:rPr>
              <a:t>El </a:t>
            </a:r>
            <a:r>
              <a:rPr sz="2500" b="1" dirty="0" err="1">
                <a:solidFill>
                  <a:srgbClr val="111111"/>
                </a:solidFill>
                <a:latin typeface="Arial"/>
              </a:rPr>
              <a:t>jugador</a:t>
            </a:r>
            <a:r>
              <a:rPr sz="2500" b="1" dirty="0">
                <a:solidFill>
                  <a:srgbClr val="111111"/>
                </a:solidFill>
                <a:latin typeface="Arial"/>
              </a:rPr>
              <a:t> no solo </a:t>
            </a:r>
            <a:r>
              <a:rPr sz="2500" b="1" dirty="0" err="1">
                <a:solidFill>
                  <a:srgbClr val="111111"/>
                </a:solidFill>
                <a:latin typeface="Arial"/>
              </a:rPr>
              <a:t>juega</a:t>
            </a:r>
            <a:r>
              <a:rPr sz="2500" b="1" dirty="0">
                <a:solidFill>
                  <a:srgbClr val="111111"/>
                </a:solidFill>
                <a:latin typeface="Arial"/>
              </a:rPr>
              <a:t>: </a:t>
            </a:r>
            <a:r>
              <a:rPr sz="2500" b="1" dirty="0" err="1">
                <a:solidFill>
                  <a:srgbClr val="111111"/>
                </a:solidFill>
                <a:latin typeface="Arial"/>
              </a:rPr>
              <a:t>sigue</a:t>
            </a:r>
            <a:r>
              <a:rPr sz="2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111111"/>
                </a:solidFill>
                <a:latin typeface="Arial"/>
              </a:rPr>
              <a:t>su</a:t>
            </a:r>
            <a:r>
              <a:rPr sz="2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111111"/>
                </a:solidFill>
                <a:latin typeface="Arial"/>
              </a:rPr>
              <a:t>historia</a:t>
            </a:r>
            <a:r>
              <a:rPr sz="2500" b="1" dirty="0">
                <a:solidFill>
                  <a:srgbClr val="111111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111111"/>
                </a:solidFill>
                <a:latin typeface="Arial"/>
              </a:rPr>
              <a:t>competitiva</a:t>
            </a:r>
            <a:r>
              <a:rPr sz="2500" b="1" dirty="0">
                <a:solidFill>
                  <a:srgbClr val="111111"/>
                </a:solidFill>
                <a:latin typeface="Ari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3712" y="1431596"/>
            <a:ext cx="7223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666666"/>
                </a:solidFill>
                <a:latin typeface="Arial"/>
              </a:rPr>
              <a:t>Cada </a:t>
            </a:r>
            <a:r>
              <a:rPr sz="1400" b="0" dirty="0" err="1">
                <a:solidFill>
                  <a:srgbClr val="666666"/>
                </a:solidFill>
                <a:latin typeface="Arial"/>
              </a:rPr>
              <a:t>partido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genera </a:t>
            </a:r>
            <a:r>
              <a:rPr sz="1400" b="0" dirty="0" err="1">
                <a:solidFill>
                  <a:srgbClr val="666666"/>
                </a:solidFill>
                <a:latin typeface="Arial"/>
              </a:rPr>
              <a:t>contexto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666666"/>
                </a:solidFill>
                <a:latin typeface="Arial"/>
              </a:rPr>
              <a:t>progreso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y </a:t>
            </a:r>
            <a:r>
              <a:rPr sz="1400" b="0" dirty="0" err="1">
                <a:solidFill>
                  <a:srgbClr val="666666"/>
                </a:solidFill>
                <a:latin typeface="Arial"/>
              </a:rPr>
              <a:t>conversación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8248" y="2557124"/>
            <a:ext cx="354321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 err="1">
                <a:solidFill>
                  <a:srgbClr val="111111"/>
                </a:solidFill>
                <a:latin typeface="Arial"/>
              </a:rPr>
              <a:t>Tabla</a:t>
            </a:r>
            <a:r>
              <a:rPr sz="1300" b="1" dirty="0">
                <a:solidFill>
                  <a:srgbClr val="111111"/>
                </a:solidFill>
                <a:latin typeface="Arial"/>
              </a:rPr>
              <a:t> de </a:t>
            </a:r>
            <a:r>
              <a:rPr sz="1300" b="1" dirty="0" err="1">
                <a:solidFill>
                  <a:srgbClr val="111111"/>
                </a:solidFill>
                <a:latin typeface="Arial"/>
              </a:rPr>
              <a:t>posiciones</a:t>
            </a:r>
            <a:endParaRPr sz="1300" b="1" dirty="0">
              <a:solidFill>
                <a:srgbClr val="111111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38248" y="2899241"/>
            <a:ext cx="354321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666666"/>
                </a:solidFill>
                <a:latin typeface="Arial"/>
              </a:rPr>
              <a:t>Ranking </a:t>
            </a:r>
            <a:r>
              <a:rPr sz="1000" b="0" dirty="0" err="1">
                <a:solidFill>
                  <a:srgbClr val="666666"/>
                </a:solidFill>
                <a:latin typeface="Arial"/>
              </a:rPr>
              <a:t>por</a:t>
            </a:r>
            <a:r>
              <a:rPr sz="100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666666"/>
                </a:solidFill>
                <a:latin typeface="Arial"/>
              </a:rPr>
              <a:t>división</a:t>
            </a:r>
            <a:r>
              <a:rPr sz="1000" b="0" dirty="0">
                <a:solidFill>
                  <a:srgbClr val="666666"/>
                </a:solidFill>
                <a:latin typeface="Arial"/>
              </a:rPr>
              <a:t> y </a:t>
            </a:r>
            <a:r>
              <a:rPr sz="1000" b="0" dirty="0" err="1">
                <a:solidFill>
                  <a:srgbClr val="666666"/>
                </a:solidFill>
                <a:latin typeface="Arial"/>
              </a:rPr>
              <a:t>desempeño</a:t>
            </a:r>
            <a:r>
              <a:rPr sz="1000" b="0" dirty="0">
                <a:solidFill>
                  <a:srgbClr val="666666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9128" y="3201674"/>
            <a:ext cx="34818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111111"/>
                </a:solidFill>
                <a:latin typeface="Arial"/>
              </a:rPr>
              <a:t>Fixture &amp; </a:t>
            </a:r>
            <a:r>
              <a:rPr sz="1300" b="1" dirty="0" err="1">
                <a:solidFill>
                  <a:srgbClr val="111111"/>
                </a:solidFill>
                <a:latin typeface="Arial"/>
              </a:rPr>
              <a:t>resultados</a:t>
            </a:r>
            <a:endParaRPr sz="1300" b="1" dirty="0">
              <a:solidFill>
                <a:srgbClr val="111111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9128" y="3538304"/>
            <a:ext cx="3481832" cy="150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>
                <a:solidFill>
                  <a:srgbClr val="666666"/>
                </a:solidFill>
                <a:latin typeface="Arial"/>
              </a:rPr>
              <a:t>Próximos partidos y marcadores jugados.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8888" y="3791564"/>
            <a:ext cx="350710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111111"/>
                </a:solidFill>
                <a:latin typeface="Arial"/>
              </a:rPr>
              <a:t>H2H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78888" y="4133680"/>
            <a:ext cx="3507108" cy="150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 dirty="0" err="1">
                <a:solidFill>
                  <a:srgbClr val="666666"/>
                </a:solidFill>
                <a:latin typeface="Arial"/>
              </a:rPr>
              <a:t>Comparación</a:t>
            </a:r>
            <a:r>
              <a:rPr sz="98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980" b="0" dirty="0" err="1">
                <a:solidFill>
                  <a:srgbClr val="666666"/>
                </a:solidFill>
                <a:latin typeface="Arial"/>
              </a:rPr>
              <a:t>directa</a:t>
            </a:r>
            <a:r>
              <a:rPr sz="980" b="0" dirty="0">
                <a:solidFill>
                  <a:srgbClr val="666666"/>
                </a:solidFill>
                <a:latin typeface="Arial"/>
              </a:rPr>
              <a:t> entre </a:t>
            </a:r>
            <a:r>
              <a:rPr sz="980" b="0" dirty="0" err="1">
                <a:solidFill>
                  <a:srgbClr val="666666"/>
                </a:solidFill>
                <a:latin typeface="Arial"/>
              </a:rPr>
              <a:t>jugadores</a:t>
            </a:r>
            <a:r>
              <a:rPr sz="980" b="0" dirty="0">
                <a:solidFill>
                  <a:srgbClr val="666666"/>
                </a:solidFill>
                <a:latin typeface="Arial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9128" y="4436114"/>
            <a:ext cx="3481832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LIG Stats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9128" y="4772744"/>
            <a:ext cx="3481832" cy="150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>
                <a:solidFill>
                  <a:srgbClr val="666666"/>
                </a:solidFill>
                <a:latin typeface="Arial"/>
              </a:rPr>
              <a:t>Radiografía competitiva de la liga.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78888" y="5026004"/>
            <a:ext cx="3360866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111111"/>
                </a:solidFill>
                <a:latin typeface="Arial"/>
              </a:rPr>
              <a:t>LIG 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78888" y="5368120"/>
            <a:ext cx="3360866" cy="150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>
                <a:solidFill>
                  <a:srgbClr val="666666"/>
                </a:solidFill>
                <a:latin typeface="Arial"/>
              </a:rPr>
              <a:t>Ranking dinámico de rendimiento reciente.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4652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666666"/>
                </a:solidFill>
                <a:latin typeface="Arial"/>
              </a:rPr>
              <a:t>LIG by NonData&amp;Co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E4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01EDA670-9EA0-8C44-CF92-597E93705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800" y="492760"/>
            <a:ext cx="566928" cy="5669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7705011B-7B2B-DB35-6EA4-8A83A0C39CD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87049" y="2262289"/>
            <a:ext cx="1080000" cy="1080000"/>
          </a:xfrm>
          <a:prstGeom prst="flowChartConnector">
            <a:avLst/>
          </a:prstGeom>
          <a:ln w="19050">
            <a:solidFill>
              <a:schemeClr val="bg2">
                <a:lumMod val="90000"/>
              </a:schemeClr>
            </a:solidFill>
          </a:ln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6C27CC2A-2967-F15C-BA8B-6459F3D917D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737609" y="2858129"/>
            <a:ext cx="1080000" cy="1080000"/>
          </a:xfrm>
          <a:prstGeom prst="flowChartConnector">
            <a:avLst/>
          </a:prstGeom>
          <a:ln w="19050">
            <a:solidFill>
              <a:schemeClr val="bg2">
                <a:lumMod val="90000"/>
              </a:schemeClr>
            </a:solidFill>
          </a:ln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658BF8CB-A906-C961-6442-A782F9D144C5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978920" y="3492438"/>
            <a:ext cx="1080000" cy="1080000"/>
          </a:xfrm>
          <a:prstGeom prst="flowChartConnector">
            <a:avLst/>
          </a:prstGeom>
          <a:ln w="19050">
            <a:solidFill>
              <a:schemeClr val="bg2">
                <a:lumMod val="90000"/>
              </a:schemeClr>
            </a:solidFill>
          </a:ln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1004B2B2-D561-796C-BA53-63B5987DE601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757929" y="4098600"/>
            <a:ext cx="1080000" cy="1080000"/>
          </a:xfrm>
          <a:prstGeom prst="flowChartConnector">
            <a:avLst/>
          </a:prstGeom>
          <a:ln w="19050">
            <a:solidFill>
              <a:schemeClr val="bg2">
                <a:lumMod val="90000"/>
              </a:schemeClr>
            </a:solidFill>
          </a:ln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D388F7F2-E260-9932-A930-7FF759780924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989080" y="4726699"/>
            <a:ext cx="1080000" cy="1080000"/>
          </a:xfrm>
          <a:prstGeom prst="flowChartConnector">
            <a:avLst/>
          </a:prstGeom>
          <a:ln w="19050">
            <a:solidFill>
              <a:schemeClr val="bg2">
                <a:lumMod val="90000"/>
              </a:schemeClr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56E62FE8-22D4-94A3-C5B8-EFC50A65CAFC}"/>
              </a:ext>
            </a:extLst>
          </p:cNvPr>
          <p:cNvSpPr/>
          <p:nvPr/>
        </p:nvSpPr>
        <p:spPr>
          <a:xfrm>
            <a:off x="4358387" y="4148495"/>
            <a:ext cx="3354850" cy="104326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2" name="Rounded Rectangle 12">
            <a:extLst>
              <a:ext uri="{FF2B5EF4-FFF2-40B4-BE49-F238E27FC236}">
                <a16:creationId xmlns:a16="http://schemas.microsoft.com/office/drawing/2014/main" id="{9803F73C-9AEC-D7D5-EE24-302431205E4A}"/>
              </a:ext>
            </a:extLst>
          </p:cNvPr>
          <p:cNvSpPr/>
          <p:nvPr/>
        </p:nvSpPr>
        <p:spPr>
          <a:xfrm>
            <a:off x="4389120" y="4119790"/>
            <a:ext cx="34137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56DBBC85-D392-25E4-1BB0-C6A07D66053E}"/>
              </a:ext>
            </a:extLst>
          </p:cNvPr>
          <p:cNvSpPr/>
          <p:nvPr/>
        </p:nvSpPr>
        <p:spPr>
          <a:xfrm>
            <a:off x="716280" y="4119790"/>
            <a:ext cx="3324896" cy="1043954"/>
          </a:xfrm>
          <a:prstGeom prst="roundRect">
            <a:avLst/>
          </a:prstGeom>
          <a:solidFill>
            <a:srgbClr val="C8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6E34DAB8-E94E-33AB-CCF3-E58491502A1F}"/>
              </a:ext>
            </a:extLst>
          </p:cNvPr>
          <p:cNvSpPr/>
          <p:nvPr/>
        </p:nvSpPr>
        <p:spPr>
          <a:xfrm>
            <a:off x="753111" y="4101718"/>
            <a:ext cx="3383280" cy="107970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43E9D8FD-A55F-882C-2E46-7B26D7B9DF5C}"/>
              </a:ext>
            </a:extLst>
          </p:cNvPr>
          <p:cNvSpPr/>
          <p:nvPr/>
        </p:nvSpPr>
        <p:spPr>
          <a:xfrm>
            <a:off x="8092187" y="2603671"/>
            <a:ext cx="3354850" cy="104326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0" name="Rounded Rectangle 12">
            <a:extLst>
              <a:ext uri="{FF2B5EF4-FFF2-40B4-BE49-F238E27FC236}">
                <a16:creationId xmlns:a16="http://schemas.microsoft.com/office/drawing/2014/main" id="{10B469FD-773C-F724-B9EE-3FB6B41FAA68}"/>
              </a:ext>
            </a:extLst>
          </p:cNvPr>
          <p:cNvSpPr/>
          <p:nvPr/>
        </p:nvSpPr>
        <p:spPr>
          <a:xfrm>
            <a:off x="8122920" y="2574966"/>
            <a:ext cx="34137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A8CF6A7D-FF6F-B330-DAB8-BD5FDCF222DA}"/>
              </a:ext>
            </a:extLst>
          </p:cNvPr>
          <p:cNvSpPr/>
          <p:nvPr/>
        </p:nvSpPr>
        <p:spPr>
          <a:xfrm>
            <a:off x="4388867" y="2596648"/>
            <a:ext cx="3354850" cy="104326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Rounded Rectangle 12">
            <a:extLst>
              <a:ext uri="{FF2B5EF4-FFF2-40B4-BE49-F238E27FC236}">
                <a16:creationId xmlns:a16="http://schemas.microsoft.com/office/drawing/2014/main" id="{B22BB522-FFBD-56CE-7FCF-204AF4976313}"/>
              </a:ext>
            </a:extLst>
          </p:cNvPr>
          <p:cNvSpPr/>
          <p:nvPr/>
        </p:nvSpPr>
        <p:spPr>
          <a:xfrm>
            <a:off x="4419600" y="2567942"/>
            <a:ext cx="3413760" cy="10860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D682F69A-4462-05A2-C11C-551E69D9915D}"/>
              </a:ext>
            </a:extLst>
          </p:cNvPr>
          <p:cNvSpPr/>
          <p:nvPr/>
        </p:nvSpPr>
        <p:spPr>
          <a:xfrm>
            <a:off x="679449" y="2602958"/>
            <a:ext cx="3324896" cy="1043954"/>
          </a:xfrm>
          <a:prstGeom prst="roundRect">
            <a:avLst/>
          </a:prstGeom>
          <a:solidFill>
            <a:srgbClr val="C8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ounded Rectangle 8">
            <a:extLst>
              <a:ext uri="{FF2B5EF4-FFF2-40B4-BE49-F238E27FC236}">
                <a16:creationId xmlns:a16="http://schemas.microsoft.com/office/drawing/2014/main" id="{9E8575CE-4630-667A-CE8B-27914B88FED7}"/>
              </a:ext>
            </a:extLst>
          </p:cNvPr>
          <p:cNvSpPr/>
          <p:nvPr/>
        </p:nvSpPr>
        <p:spPr>
          <a:xfrm>
            <a:off x="716280" y="2574253"/>
            <a:ext cx="3383280" cy="107970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6920" y="61468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 dirty="0">
                <a:solidFill>
                  <a:srgbClr val="111111"/>
                </a:solidFill>
                <a:latin typeface="Arial"/>
              </a:rPr>
              <a:t>LIG es un motor de </a:t>
            </a:r>
            <a:r>
              <a:rPr sz="2500" b="1" dirty="0" err="1">
                <a:solidFill>
                  <a:srgbClr val="111111"/>
                </a:solidFill>
                <a:latin typeface="Arial"/>
              </a:rPr>
              <a:t>recurrencia</a:t>
            </a:r>
            <a:r>
              <a:rPr sz="2500" b="1" dirty="0">
                <a:solidFill>
                  <a:srgbClr val="111111"/>
                </a:solidFill>
                <a:latin typeface="Arial"/>
              </a:rPr>
              <a:t> para </a:t>
            </a:r>
            <a:r>
              <a:rPr sz="2500" b="1" dirty="0" err="1">
                <a:solidFill>
                  <a:srgbClr val="111111"/>
                </a:solidFill>
                <a:latin typeface="Arial"/>
              </a:rPr>
              <a:t>el</a:t>
            </a:r>
            <a:r>
              <a:rPr sz="2500" b="1" dirty="0">
                <a:solidFill>
                  <a:srgbClr val="111111"/>
                </a:solidFill>
                <a:latin typeface="Arial"/>
              </a:rPr>
              <a:t> club.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920" y="1373632"/>
            <a:ext cx="7223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666666"/>
                </a:solidFill>
                <a:latin typeface="Arial"/>
              </a:rPr>
              <a:t>La </a:t>
            </a:r>
            <a:r>
              <a:rPr sz="1400" b="0" dirty="0" err="1">
                <a:solidFill>
                  <a:srgbClr val="666666"/>
                </a:solidFill>
                <a:latin typeface="Arial"/>
              </a:rPr>
              <a:t>experiencia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del </a:t>
            </a:r>
            <a:r>
              <a:rPr sz="1400" b="0" dirty="0" err="1">
                <a:solidFill>
                  <a:srgbClr val="666666"/>
                </a:solidFill>
                <a:latin typeface="Arial"/>
              </a:rPr>
              <a:t>jugador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se </a:t>
            </a:r>
            <a:r>
              <a:rPr sz="1400" b="0" dirty="0" err="1">
                <a:solidFill>
                  <a:srgbClr val="666666"/>
                </a:solidFill>
                <a:latin typeface="Arial"/>
              </a:rPr>
              <a:t>convierte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666666"/>
                </a:solidFill>
                <a:latin typeface="Arial"/>
              </a:rPr>
              <a:t>en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valor de </a:t>
            </a:r>
            <a:r>
              <a:rPr sz="1400" b="0" dirty="0" err="1">
                <a:solidFill>
                  <a:srgbClr val="666666"/>
                </a:solidFill>
                <a:latin typeface="Arial"/>
              </a:rPr>
              <a:t>negocio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para </a:t>
            </a:r>
            <a:r>
              <a:rPr sz="1400" b="0" dirty="0" err="1">
                <a:solidFill>
                  <a:srgbClr val="666666"/>
                </a:solidFill>
                <a:latin typeface="Arial"/>
              </a:rPr>
              <a:t>el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 club.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70632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Más ocupación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108960"/>
            <a:ext cx="3035808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>
                <a:solidFill>
                  <a:srgbClr val="666666"/>
                </a:solidFill>
                <a:latin typeface="Arial"/>
              </a:rPr>
              <a:t>Temporadas programadas generan partidos recurrentes y ayudan a llenar horarios.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770632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Más fidelización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108960"/>
            <a:ext cx="3035808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>
                <a:solidFill>
                  <a:srgbClr val="666666"/>
                </a:solidFill>
                <a:latin typeface="Arial"/>
              </a:rPr>
              <a:t>El jugador vuelve porque tiene ranking, rivales, objetivos e historia.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770632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Más comunidad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3108960"/>
            <a:ext cx="3035808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>
                <a:solidFill>
                  <a:srgbClr val="666666"/>
                </a:solidFill>
                <a:latin typeface="Arial"/>
              </a:rPr>
              <a:t>La liga conecta jugadores que antes no se conocían.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279392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Más diferenciación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617720"/>
            <a:ext cx="3035808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>
                <a:solidFill>
                  <a:srgbClr val="666666"/>
                </a:solidFill>
                <a:latin typeface="Arial"/>
              </a:rPr>
              <a:t>El club ofrece tecnología, datos y seguimiento competitivo.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279392"/>
            <a:ext cx="303580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  <a:latin typeface="Arial"/>
              </a:rPr>
              <a:t>Menos fricción operativa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4617720"/>
            <a:ext cx="3035808" cy="457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0" b="0">
                <a:solidFill>
                  <a:srgbClr val="666666"/>
                </a:solidFill>
                <a:latin typeface="Arial"/>
              </a:rPr>
              <a:t>La organización no depende de armar partidos manualmente cada semana.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4652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666666"/>
                </a:solidFill>
                <a:latin typeface="Arial"/>
              </a:rPr>
              <a:t>LIG by NonData&amp;Co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E4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158F263D-4621-41DA-00AA-1031AFE5B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800" y="492760"/>
            <a:ext cx="566928" cy="5669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F78E5-F479-F0BC-98E2-8E6CE3DED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CE984F-9774-1819-ED45-979A56BFDD94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2F1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329534EC-4922-3DE4-E098-2AA48835F2C9}"/>
              </a:ext>
            </a:extLst>
          </p:cNvPr>
          <p:cNvSpPr/>
          <p:nvPr/>
        </p:nvSpPr>
        <p:spPr>
          <a:xfrm>
            <a:off x="4358387" y="4148495"/>
            <a:ext cx="3354850" cy="104326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2" name="Rounded Rectangle 12">
            <a:extLst>
              <a:ext uri="{FF2B5EF4-FFF2-40B4-BE49-F238E27FC236}">
                <a16:creationId xmlns:a16="http://schemas.microsoft.com/office/drawing/2014/main" id="{F82EDBE0-02B7-41F8-B0E0-719C73D9D581}"/>
              </a:ext>
            </a:extLst>
          </p:cNvPr>
          <p:cNvSpPr/>
          <p:nvPr/>
        </p:nvSpPr>
        <p:spPr>
          <a:xfrm>
            <a:off x="4389120" y="4119790"/>
            <a:ext cx="34137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C10EF9BE-7393-9854-00D4-38573890E5FB}"/>
              </a:ext>
            </a:extLst>
          </p:cNvPr>
          <p:cNvSpPr/>
          <p:nvPr/>
        </p:nvSpPr>
        <p:spPr>
          <a:xfrm>
            <a:off x="716280" y="4119790"/>
            <a:ext cx="3324896" cy="1043954"/>
          </a:xfrm>
          <a:prstGeom prst="roundRect">
            <a:avLst/>
          </a:prstGeom>
          <a:solidFill>
            <a:srgbClr val="C8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5B149849-E74D-AAF5-EFD0-E6252A3781C0}"/>
              </a:ext>
            </a:extLst>
          </p:cNvPr>
          <p:cNvSpPr/>
          <p:nvPr/>
        </p:nvSpPr>
        <p:spPr>
          <a:xfrm>
            <a:off x="753111" y="4101718"/>
            <a:ext cx="3383280" cy="107970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A24691E7-1BE3-0FBF-CAC5-D2F9ABCF3D1D}"/>
              </a:ext>
            </a:extLst>
          </p:cNvPr>
          <p:cNvSpPr/>
          <p:nvPr/>
        </p:nvSpPr>
        <p:spPr>
          <a:xfrm>
            <a:off x="8092187" y="2603671"/>
            <a:ext cx="3354850" cy="104326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0" name="Rounded Rectangle 12">
            <a:extLst>
              <a:ext uri="{FF2B5EF4-FFF2-40B4-BE49-F238E27FC236}">
                <a16:creationId xmlns:a16="http://schemas.microsoft.com/office/drawing/2014/main" id="{EFFCBEEF-5271-8619-42D1-AB68502AF1CE}"/>
              </a:ext>
            </a:extLst>
          </p:cNvPr>
          <p:cNvSpPr/>
          <p:nvPr/>
        </p:nvSpPr>
        <p:spPr>
          <a:xfrm>
            <a:off x="8122920" y="2574966"/>
            <a:ext cx="341376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B8B79659-3E54-1405-D650-046AD61AE38F}"/>
              </a:ext>
            </a:extLst>
          </p:cNvPr>
          <p:cNvSpPr/>
          <p:nvPr/>
        </p:nvSpPr>
        <p:spPr>
          <a:xfrm>
            <a:off x="4388867" y="2596648"/>
            <a:ext cx="3354850" cy="1043264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8" name="Rounded Rectangle 12">
            <a:extLst>
              <a:ext uri="{FF2B5EF4-FFF2-40B4-BE49-F238E27FC236}">
                <a16:creationId xmlns:a16="http://schemas.microsoft.com/office/drawing/2014/main" id="{D41CDF59-FF8D-795F-B131-27A0EAFE18E2}"/>
              </a:ext>
            </a:extLst>
          </p:cNvPr>
          <p:cNvSpPr/>
          <p:nvPr/>
        </p:nvSpPr>
        <p:spPr>
          <a:xfrm>
            <a:off x="4419600" y="2567942"/>
            <a:ext cx="3413760" cy="10860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92280610-E75B-597A-D190-0D1D8AF2FC53}"/>
              </a:ext>
            </a:extLst>
          </p:cNvPr>
          <p:cNvSpPr/>
          <p:nvPr/>
        </p:nvSpPr>
        <p:spPr>
          <a:xfrm>
            <a:off x="679449" y="2602958"/>
            <a:ext cx="3324896" cy="1043954"/>
          </a:xfrm>
          <a:prstGeom prst="roundRect">
            <a:avLst/>
          </a:prstGeom>
          <a:solidFill>
            <a:srgbClr val="C8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Rounded Rectangle 8">
            <a:extLst>
              <a:ext uri="{FF2B5EF4-FFF2-40B4-BE49-F238E27FC236}">
                <a16:creationId xmlns:a16="http://schemas.microsoft.com/office/drawing/2014/main" id="{3E44F772-88E6-47B1-F33C-4028181A5982}"/>
              </a:ext>
            </a:extLst>
          </p:cNvPr>
          <p:cNvSpPr/>
          <p:nvPr/>
        </p:nvSpPr>
        <p:spPr>
          <a:xfrm>
            <a:off x="716280" y="2574253"/>
            <a:ext cx="3383280" cy="107970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4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7F52B4-E1BA-1037-63B2-16B6AE2C7E87}"/>
              </a:ext>
            </a:extLst>
          </p:cNvPr>
          <p:cNvSpPr txBox="1"/>
          <p:nvPr/>
        </p:nvSpPr>
        <p:spPr>
          <a:xfrm>
            <a:off x="756920" y="614680"/>
            <a:ext cx="7680960" cy="7694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" sz="2500" b="1" dirty="0">
                <a:solidFill>
                  <a:srgbClr val="111111"/>
                </a:solidFill>
                <a:latin typeface="Arial"/>
              </a:rPr>
              <a:t>Partamos con una temporada piloto simple, medible y rápida de activar.</a:t>
            </a:r>
            <a:endParaRPr sz="2500" b="1" dirty="0">
              <a:solidFill>
                <a:srgbClr val="111111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EE89DB-ACA5-8376-5032-DCDA15EC89CD}"/>
              </a:ext>
            </a:extLst>
          </p:cNvPr>
          <p:cNvSpPr txBox="1"/>
          <p:nvPr/>
        </p:nvSpPr>
        <p:spPr>
          <a:xfrm>
            <a:off x="756920" y="1668272"/>
            <a:ext cx="7223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" sz="1400" dirty="0">
                <a:solidFill>
                  <a:srgbClr val="666666"/>
                </a:solidFill>
                <a:latin typeface="Arial"/>
              </a:rPr>
              <a:t>Un piloto permite validar interés, experiencia y operación antes de escalar</a:t>
            </a:r>
            <a:r>
              <a:rPr sz="1400" b="0" dirty="0">
                <a:solidFill>
                  <a:srgbClr val="666666"/>
                </a:solidFill>
                <a:latin typeface="Arial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3E5C2-9573-DEAB-D435-C8D3CCAD7C48}"/>
              </a:ext>
            </a:extLst>
          </p:cNvPr>
          <p:cNvSpPr txBox="1"/>
          <p:nvPr/>
        </p:nvSpPr>
        <p:spPr>
          <a:xfrm>
            <a:off x="886968" y="2770632"/>
            <a:ext cx="303580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1300" b="1" dirty="0">
                <a:solidFill>
                  <a:srgbClr val="111111"/>
                </a:solidFill>
                <a:latin typeface="Arial"/>
              </a:rPr>
              <a:t>Duración</a:t>
            </a:r>
            <a:endParaRPr sz="1300" b="1" dirty="0">
              <a:solidFill>
                <a:srgbClr val="111111"/>
              </a:solidFill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434632-BB38-10C2-E54F-E8BD743A06AE}"/>
              </a:ext>
            </a:extLst>
          </p:cNvPr>
          <p:cNvSpPr txBox="1"/>
          <p:nvPr/>
        </p:nvSpPr>
        <p:spPr>
          <a:xfrm>
            <a:off x="886968" y="3190240"/>
            <a:ext cx="3035808" cy="150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L" sz="980" dirty="0">
                <a:solidFill>
                  <a:srgbClr val="666666"/>
                </a:solidFill>
                <a:latin typeface="Arial"/>
              </a:rPr>
              <a:t>1 temporada de 7 fechas</a:t>
            </a:r>
            <a:r>
              <a:rPr sz="980" b="0" dirty="0">
                <a:solidFill>
                  <a:srgbClr val="666666"/>
                </a:solidFill>
                <a:latin typeface="Arial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DCC09D-76F9-A51A-F9A4-0F4AACBFA789}"/>
              </a:ext>
            </a:extLst>
          </p:cNvPr>
          <p:cNvSpPr txBox="1"/>
          <p:nvPr/>
        </p:nvSpPr>
        <p:spPr>
          <a:xfrm>
            <a:off x="4590288" y="2770632"/>
            <a:ext cx="303580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L" sz="1300" b="1" dirty="0">
                <a:solidFill>
                  <a:srgbClr val="111111"/>
                </a:solidFill>
                <a:latin typeface="Arial"/>
              </a:rPr>
              <a:t>Jugadores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E09445-7EA6-7CF0-0FFE-26F172CE708E}"/>
              </a:ext>
            </a:extLst>
          </p:cNvPr>
          <p:cNvSpPr txBox="1"/>
          <p:nvPr/>
        </p:nvSpPr>
        <p:spPr>
          <a:xfrm>
            <a:off x="4590288" y="3190240"/>
            <a:ext cx="3035808" cy="150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BR" sz="980" dirty="0">
                <a:solidFill>
                  <a:srgbClr val="666666"/>
                </a:solidFill>
                <a:latin typeface="Arial"/>
              </a:rPr>
              <a:t>8, 16, 24 o 32 </a:t>
            </a:r>
            <a:r>
              <a:rPr lang="pt-BR" sz="980" dirty="0" err="1">
                <a:solidFill>
                  <a:srgbClr val="666666"/>
                </a:solidFill>
                <a:latin typeface="Arial"/>
              </a:rPr>
              <a:t>jugadores</a:t>
            </a:r>
            <a:r>
              <a:rPr lang="pt-BR" sz="980" dirty="0">
                <a:solidFill>
                  <a:srgbClr val="666666"/>
                </a:solidFill>
                <a:latin typeface="Arial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F9AD77-C166-A348-934C-CD19926B3347}"/>
              </a:ext>
            </a:extLst>
          </p:cNvPr>
          <p:cNvSpPr txBox="1"/>
          <p:nvPr/>
        </p:nvSpPr>
        <p:spPr>
          <a:xfrm>
            <a:off x="8293608" y="2770632"/>
            <a:ext cx="303580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L" sz="1300" b="1" dirty="0">
                <a:solidFill>
                  <a:srgbClr val="111111"/>
                </a:solidFill>
                <a:latin typeface="Arial"/>
              </a:rPr>
              <a:t>Operación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6A89F0-3EB9-C739-74E5-3C70417583B1}"/>
              </a:ext>
            </a:extLst>
          </p:cNvPr>
          <p:cNvSpPr txBox="1"/>
          <p:nvPr/>
        </p:nvSpPr>
        <p:spPr>
          <a:xfrm>
            <a:off x="8293608" y="3190240"/>
            <a:ext cx="3035808" cy="3016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L" sz="980" dirty="0">
                <a:solidFill>
                  <a:srgbClr val="666666"/>
                </a:solidFill>
                <a:latin typeface="Arial"/>
              </a:rPr>
              <a:t>Fixture, ranking, resultados, H2H y estadísticas en app</a:t>
            </a:r>
            <a:r>
              <a:rPr sz="980" b="0" dirty="0">
                <a:solidFill>
                  <a:srgbClr val="666666"/>
                </a:solidFill>
                <a:latin typeface="Arial"/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244592-2998-74CE-0F99-19D07DC827C5}"/>
              </a:ext>
            </a:extLst>
          </p:cNvPr>
          <p:cNvSpPr txBox="1"/>
          <p:nvPr/>
        </p:nvSpPr>
        <p:spPr>
          <a:xfrm>
            <a:off x="886968" y="4279392"/>
            <a:ext cx="303580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CL" sz="1300" b="1" dirty="0">
                <a:solidFill>
                  <a:srgbClr val="111111"/>
                </a:solidFill>
                <a:latin typeface="Arial"/>
              </a:rPr>
              <a:t>Divisiones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B72ED5-2728-97DE-CE04-1CF1C339C382}"/>
              </a:ext>
            </a:extLst>
          </p:cNvPr>
          <p:cNvSpPr txBox="1"/>
          <p:nvPr/>
        </p:nvSpPr>
        <p:spPr>
          <a:xfrm>
            <a:off x="886968" y="4699000"/>
            <a:ext cx="3035808" cy="150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" sz="980" dirty="0">
                <a:solidFill>
                  <a:srgbClr val="666666"/>
                </a:solidFill>
                <a:latin typeface="Arial"/>
              </a:rPr>
              <a:t>Grupos por nivel competitivo declarado</a:t>
            </a:r>
            <a:endParaRPr sz="980" b="0" dirty="0">
              <a:solidFill>
                <a:srgbClr val="666666"/>
              </a:solidFill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D21F78-8CF9-37FF-7C74-98393517955E}"/>
              </a:ext>
            </a:extLst>
          </p:cNvPr>
          <p:cNvSpPr txBox="1"/>
          <p:nvPr/>
        </p:nvSpPr>
        <p:spPr>
          <a:xfrm>
            <a:off x="4590288" y="4279392"/>
            <a:ext cx="303580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1300" b="1" dirty="0">
                <a:solidFill>
                  <a:srgbClr val="111111"/>
                </a:solidFill>
                <a:latin typeface="Arial"/>
              </a:rPr>
              <a:t>Cierre</a:t>
            </a:r>
            <a:endParaRPr sz="1300" b="1" dirty="0">
              <a:solidFill>
                <a:srgbClr val="111111"/>
              </a:solidFill>
              <a:latin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2CFA11-0739-7D8A-FFAF-2BFB553D0CD4}"/>
              </a:ext>
            </a:extLst>
          </p:cNvPr>
          <p:cNvSpPr txBox="1"/>
          <p:nvPr/>
        </p:nvSpPr>
        <p:spPr>
          <a:xfrm>
            <a:off x="4590288" y="4699000"/>
            <a:ext cx="3035808" cy="1508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ES" sz="980" dirty="0">
                <a:solidFill>
                  <a:srgbClr val="666666"/>
                </a:solidFill>
                <a:latin typeface="Arial"/>
              </a:rPr>
              <a:t>Reporte de actividad, </a:t>
            </a:r>
            <a:r>
              <a:rPr lang="es-ES" sz="980" dirty="0" err="1">
                <a:solidFill>
                  <a:srgbClr val="666666"/>
                </a:solidFill>
                <a:latin typeface="Arial"/>
              </a:rPr>
              <a:t>feedback</a:t>
            </a:r>
            <a:r>
              <a:rPr lang="es-ES" sz="980" dirty="0">
                <a:solidFill>
                  <a:srgbClr val="666666"/>
                </a:solidFill>
                <a:latin typeface="Arial"/>
              </a:rPr>
              <a:t> y siguiente temporada</a:t>
            </a:r>
            <a:endParaRPr sz="980" b="0" dirty="0">
              <a:solidFill>
                <a:srgbClr val="666666"/>
              </a:solidFill>
              <a:latin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FA2D09-953C-F570-DB2D-543B1CA6AC56}"/>
              </a:ext>
            </a:extLst>
          </p:cNvPr>
          <p:cNvSpPr txBox="1"/>
          <p:nvPr/>
        </p:nvSpPr>
        <p:spPr>
          <a:xfrm>
            <a:off x="594360" y="644652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666666"/>
                </a:solidFill>
                <a:latin typeface="Arial"/>
              </a:rPr>
              <a:t>LIG by NonData&amp;Co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95654D0-9985-900F-E6CF-ACF36E594D3F}"/>
              </a:ext>
            </a:extLst>
          </p:cNvPr>
          <p:cNvSpPr/>
          <p:nvPr/>
        </p:nvSpPr>
        <p:spPr>
          <a:xfrm>
            <a:off x="594360" y="6309360"/>
            <a:ext cx="10972800" cy="9144"/>
          </a:xfrm>
          <a:prstGeom prst="rect">
            <a:avLst/>
          </a:prstGeom>
          <a:solidFill>
            <a:srgbClr val="E4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5AF60DB6-F18E-775E-47D6-0A358D457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800" y="492760"/>
            <a:ext cx="566928" cy="5669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4547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1248729-3891-1900-8000-4F3BCD8B1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280" y="345440"/>
            <a:ext cx="1356360" cy="13563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538480" y="2096085"/>
            <a:ext cx="1128776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s-ES" sz="4200" b="1" dirty="0">
                <a:solidFill>
                  <a:srgbClr val="FFFFFF"/>
                </a:solidFill>
                <a:latin typeface="Arial"/>
              </a:rPr>
              <a:t>¿Listo para </a:t>
            </a:r>
            <a:r>
              <a:rPr sz="4200" b="1" dirty="0" err="1">
                <a:solidFill>
                  <a:srgbClr val="FFFFFF"/>
                </a:solidFill>
                <a:latin typeface="Arial"/>
              </a:rPr>
              <a:t>una</a:t>
            </a:r>
            <a:r>
              <a:rPr sz="4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4200" b="1" dirty="0" err="1">
                <a:solidFill>
                  <a:srgbClr val="FFFFFF"/>
                </a:solidFill>
                <a:latin typeface="Arial"/>
              </a:rPr>
              <a:t>temporada</a:t>
            </a:r>
            <a:r>
              <a:rPr sz="4200" b="1" dirty="0">
                <a:solidFill>
                  <a:srgbClr val="FFFFFF"/>
                </a:solidFill>
                <a:latin typeface="Arial"/>
              </a:rPr>
              <a:t> LIG </a:t>
            </a:r>
            <a:r>
              <a:rPr sz="4200" b="1" dirty="0" err="1">
                <a:solidFill>
                  <a:srgbClr val="FFFFFF"/>
                </a:solidFill>
                <a:latin typeface="Arial"/>
              </a:rPr>
              <a:t>en</a:t>
            </a:r>
            <a:r>
              <a:rPr sz="4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4200" b="1" dirty="0" err="1">
                <a:solidFill>
                  <a:srgbClr val="FFFFFF"/>
                </a:solidFill>
                <a:latin typeface="Arial"/>
              </a:rPr>
              <a:t>tu</a:t>
            </a:r>
            <a:r>
              <a:rPr sz="4200" b="1" dirty="0">
                <a:solidFill>
                  <a:srgbClr val="FFFFFF"/>
                </a:solidFill>
                <a:latin typeface="Arial"/>
              </a:rPr>
              <a:t> club</a:t>
            </a:r>
            <a:r>
              <a:rPr lang="es-ES" sz="4200" b="1" dirty="0">
                <a:solidFill>
                  <a:srgbClr val="FFFFFF"/>
                </a:solidFill>
                <a:latin typeface="Arial"/>
              </a:rPr>
              <a:t>?</a:t>
            </a:r>
            <a:endParaRPr lang="es-CL" sz="4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3134360"/>
            <a:ext cx="107188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Arial"/>
              </a:rPr>
              <a:t>Una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liga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lista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para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jugar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: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jugadores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inscritos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, fixture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armado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, ranking vivo, H2H,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estadísticas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y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una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experiencia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digital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que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hace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que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la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gente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Arial"/>
              </a:rPr>
              <a:t>vuelva</a:t>
            </a:r>
            <a:r>
              <a:rPr sz="1600" b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6720" y="4414519"/>
            <a:ext cx="2160000" cy="432000"/>
          </a:xfrm>
          <a:prstGeom prst="roundRect">
            <a:avLst/>
          </a:prstGeom>
          <a:solidFill>
            <a:srgbClr val="C8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 err="1">
                <a:solidFill>
                  <a:srgbClr val="FFFFFF"/>
                </a:solidFill>
                <a:latin typeface="Arial"/>
              </a:rPr>
              <a:t>Definir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grupo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inicial</a:t>
            </a:r>
            <a:endParaRPr sz="1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26280" y="4414519"/>
            <a:ext cx="2160000" cy="4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11111"/>
                </a:solidFill>
                <a:latin typeface="Arial"/>
              </a:rPr>
              <a:t>Acordar calendario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55840" y="4414519"/>
            <a:ext cx="2160000" cy="432000"/>
          </a:xfrm>
          <a:prstGeom prst="roundRect">
            <a:avLst/>
          </a:prstGeom>
          <a:solidFill>
            <a:srgbClr val="C8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Lanzar piloto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00950"/>
            <a:ext cx="100787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dirty="0">
                <a:solidFill>
                  <a:srgbClr val="C8A600"/>
                </a:solidFill>
                <a:latin typeface="Arial"/>
              </a:rPr>
              <a:t>LIG no </a:t>
            </a:r>
            <a:r>
              <a:rPr sz="2000" b="1" dirty="0" err="1">
                <a:solidFill>
                  <a:srgbClr val="C8A600"/>
                </a:solidFill>
                <a:latin typeface="Arial"/>
              </a:rPr>
              <a:t>compite</a:t>
            </a:r>
            <a:r>
              <a:rPr sz="2000" b="1" dirty="0">
                <a:solidFill>
                  <a:srgbClr val="C8A600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C8A600"/>
                </a:solidFill>
                <a:latin typeface="Arial"/>
              </a:rPr>
              <a:t>por</a:t>
            </a:r>
            <a:r>
              <a:rPr sz="2000" b="1" dirty="0">
                <a:solidFill>
                  <a:srgbClr val="C8A600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C8A600"/>
                </a:solidFill>
                <a:latin typeface="Arial"/>
              </a:rPr>
              <a:t>arrendar</a:t>
            </a:r>
            <a:r>
              <a:rPr sz="2000" b="1" dirty="0">
                <a:solidFill>
                  <a:srgbClr val="C8A600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C8A600"/>
                </a:solidFill>
                <a:latin typeface="Arial"/>
              </a:rPr>
              <a:t>una</a:t>
            </a:r>
            <a:r>
              <a:rPr sz="2000" b="1" dirty="0">
                <a:solidFill>
                  <a:srgbClr val="C8A600"/>
                </a:solidFill>
                <a:latin typeface="Arial"/>
              </a:rPr>
              <a:t> cancha. Crea </a:t>
            </a:r>
            <a:r>
              <a:rPr sz="2000" b="1" dirty="0" err="1">
                <a:solidFill>
                  <a:srgbClr val="C8A600"/>
                </a:solidFill>
                <a:latin typeface="Arial"/>
              </a:rPr>
              <a:t>una</a:t>
            </a:r>
            <a:r>
              <a:rPr sz="2000" b="1" dirty="0">
                <a:solidFill>
                  <a:srgbClr val="C8A600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C8A600"/>
                </a:solidFill>
                <a:latin typeface="Arial"/>
              </a:rPr>
              <a:t>razón</a:t>
            </a:r>
            <a:r>
              <a:rPr sz="2000" b="1" dirty="0">
                <a:solidFill>
                  <a:srgbClr val="C8A600"/>
                </a:solidFill>
                <a:latin typeface="Arial"/>
              </a:rPr>
              <a:t> para </a:t>
            </a:r>
            <a:r>
              <a:rPr sz="2000" b="1" dirty="0" err="1">
                <a:solidFill>
                  <a:srgbClr val="C8A600"/>
                </a:solidFill>
                <a:latin typeface="Arial"/>
              </a:rPr>
              <a:t>volver</a:t>
            </a:r>
            <a:r>
              <a:rPr sz="2000" b="1" dirty="0">
                <a:solidFill>
                  <a:srgbClr val="C8A600"/>
                </a:solidFill>
                <a:latin typeface="Arial"/>
              </a:rPr>
              <a:t> a </a:t>
            </a:r>
            <a:r>
              <a:rPr sz="2000" b="1" dirty="0" err="1">
                <a:solidFill>
                  <a:srgbClr val="C8A600"/>
                </a:solidFill>
                <a:latin typeface="Arial"/>
              </a:rPr>
              <a:t>jugar</a:t>
            </a:r>
            <a:r>
              <a:rPr sz="2000" b="1" dirty="0">
                <a:solidFill>
                  <a:srgbClr val="C8A6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7011</TotalTime>
  <Words>721</Words>
  <Application>Microsoft Office PowerPoint</Application>
  <PresentationFormat>Panorámica</PresentationFormat>
  <Paragraphs>130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Mauricio Zajaropulos</dc:creator>
  <cp:keywords/>
  <dc:description>generated using python-pptx</dc:description>
  <cp:lastModifiedBy>Mauricio Zajaropulos</cp:lastModifiedBy>
  <cp:revision>2</cp:revision>
  <dcterms:created xsi:type="dcterms:W3CDTF">2013-01-27T09:14:16Z</dcterms:created>
  <dcterms:modified xsi:type="dcterms:W3CDTF">2026-05-26T20:49:18Z</dcterms:modified>
  <cp:category/>
</cp:coreProperties>
</file>